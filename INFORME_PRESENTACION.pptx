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64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6894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200"/>
            </a:pPr>
            <a:r>
              <a:t>Buenas tardes. Vamos a presentar nuestro trabajo final de Análisis de Series de Tiempo,</a:t>
            </a:r>
          </a:p>
          <a:p>
            <a:pPr>
              <a:defRPr sz="1200"/>
            </a:pPr>
            <a:r>
              <a:t>donde aplicamos distintas técnicas de modelado y pronóstico sobre la generación eléctrica</a:t>
            </a:r>
          </a:p>
          <a:p>
            <a:pPr>
              <a:defRPr sz="1200"/>
            </a:pPr>
            <a:r>
              <a:t>mensual de Argentina entre 2015 y 2023.</a:t>
            </a:r>
          </a:p>
          <a:p>
            <a:pPr>
              <a:defRPr sz="1200"/>
            </a:pPr>
            <a:r>
              <a:t>Somos Gustavo Rivas, Carlos Rivas y Fermín Rodríguez, y el trabajo fue dirigido por el</a:t>
            </a:r>
          </a:p>
          <a:p>
            <a:pPr>
              <a:defRPr sz="1200"/>
            </a:pPr>
            <a:r>
              <a:t>profesor Camilo Argoty en el marco de la Especialización en Inteligencia Artificial de la UBA.</a:t>
            </a:r>
          </a:p>
          <a:p>
            <a:pPr>
              <a:defRPr sz="1200"/>
            </a:pPr>
            <a:r>
              <a:t>A lo largo de la presentación vamos a mostrar cómo analizamos los datos, qué modelos probamos</a:t>
            </a:r>
          </a:p>
          <a:p>
            <a:pPr>
              <a:defRPr sz="1200"/>
            </a:pPr>
            <a:r>
              <a:t>y cuál resultó más preciso para predecir la generación eléctrica.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200"/>
            </a:pPr>
            <a:r>
              <a:t>Así está organizada la presentación: primero contamos qué pregunta nos motivó y de dónde</a:t>
            </a:r>
          </a:p>
          <a:p>
            <a:pPr>
              <a:defRPr sz="1200"/>
            </a:pPr>
            <a:r>
              <a:t>sacamos los datos. Después mostramos qué patrones encontramos en la serie -tendencia y</a:t>
            </a:r>
          </a:p>
          <a:p>
            <a:pPr>
              <a:defRPr sz="1200"/>
            </a:pPr>
            <a:r>
              <a:t>estacionalidad-, y presentamos los cuatro modelos que construimos.</a:t>
            </a:r>
          </a:p>
          <a:p>
            <a:pPr>
              <a:defRPr sz="1200"/>
            </a:pPr>
            <a:r>
              <a:t>Luego viene la parte central: comparamos el desempeño de los modelos, validamos que el</a:t>
            </a:r>
          </a:p>
          <a:p>
            <a:pPr>
              <a:defRPr sz="1200"/>
            </a:pPr>
            <a:r>
              <a:t>ganador esté bien especificado, y agregamos dos extensiones -selección automática de</a:t>
            </a:r>
          </a:p>
          <a:p>
            <a:pPr>
              <a:defRPr sz="1200"/>
            </a:pPr>
            <a:r>
              <a:t>órdenes y un modelo de volatilidad GARCH-. Cerramos con el pronóstico para 2024 y las</a:t>
            </a:r>
          </a:p>
          <a:p>
            <a:pPr>
              <a:defRPr sz="1200"/>
            </a:pPr>
            <a:r>
              <a:t>conclusiones generales.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200"/>
            </a:pPr>
            <a:r>
              <a:t>La pregunta central del trabajo es bastante simple de entender: queremos saber cuál de</a:t>
            </a:r>
          </a:p>
          <a:p>
            <a:pPr>
              <a:defRPr sz="1200"/>
            </a:pPr>
            <a:r>
              <a:t>estos cuatro modelos predice mejor la generación eléctrica mes a mes en Argentina, y</a:t>
            </a:r>
          </a:p>
          <a:p>
            <a:pPr>
              <a:defRPr sz="1200"/>
            </a:pPr>
            <a:r>
              <a:t>sobre todo, cuánto importa la estacionalidad -es decir, esos picos que se repiten todos</a:t>
            </a:r>
          </a:p>
          <a:p>
            <a:pPr>
              <a:defRPr sz="1200"/>
            </a:pPr>
            <a:r>
              <a:t>los veranos e inviernos-.</a:t>
            </a:r>
          </a:p>
          <a:p>
            <a:pPr>
              <a:defRPr sz="1200"/>
            </a:pPr>
            <a:r>
              <a:t>Para responderla nos propusimos tres cosas: primero entender los patrones de la serie</a:t>
            </a:r>
          </a:p>
          <a:p>
            <a:pPr>
              <a:defRPr sz="1200"/>
            </a:pPr>
            <a:r>
              <a:t>(tendencia y estacionalidad), después poner a competir los cuatro modelos con pruebas</a:t>
            </a:r>
          </a:p>
          <a:p>
            <a:pPr>
              <a:defRPr sz="1200"/>
            </a:pPr>
            <a:r>
              <a:t>estadísticas que justifiquen cada decisión, y finalmente usar el ganador para proyectar</a:t>
            </a:r>
          </a:p>
          <a:p>
            <a:pPr>
              <a:defRPr sz="1200"/>
            </a:pPr>
            <a:r>
              <a:t>2024 con un margen de confianza.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200"/>
            </a:pPr>
            <a:r>
              <a:t>Para entender por qué elegimos estos cuatro modelos, conviene pensarlos en dos grandes</a:t>
            </a:r>
          </a:p>
          <a:p>
            <a:pPr>
              <a:defRPr sz="1200"/>
            </a:pPr>
            <a:r>
              <a:t>familias. La primera son ARIMA y SARIMA, que vienen de la estadística clásica: necesitan</a:t>
            </a:r>
          </a:p>
          <a:p>
            <a:pPr>
              <a:defRPr sz="1200"/>
            </a:pPr>
            <a:r>
              <a:t>que la serie sea "estable" en el tiempo, y si no lo es, se la transforma diferenciándola.</a:t>
            </a:r>
          </a:p>
          <a:p>
            <a:pPr>
              <a:defRPr sz="1200"/>
            </a:pPr>
            <a:r>
              <a:t>La segunda familia es Holt-Winters y Prophet, que no exigen esa estabilidad previa: separan</a:t>
            </a:r>
          </a:p>
          <a:p>
            <a:pPr>
              <a:defRPr sz="1200"/>
            </a:pPr>
            <a:r>
              <a:t>directamente la serie en nivel, tendencia y estacionalidad, y van actualizando esos</a:t>
            </a:r>
          </a:p>
          <a:p>
            <a:pPr>
              <a:defRPr sz="1200"/>
            </a:pPr>
            <a:r>
              <a:t>componentes a medida que llegan nuevos datos.</a:t>
            </a:r>
          </a:p>
          <a:p>
            <a:pPr>
              <a:defRPr sz="1200"/>
            </a:pPr>
            <a:r>
              <a:t>Nuestra hipótesis de partida es simple: como la demanda eléctrica argentina tiene un</a:t>
            </a:r>
          </a:p>
          <a:p>
            <a:pPr>
              <a:defRPr sz="1200"/>
            </a:pPr>
            <a:r>
              <a:t>patrón estacional muy marcado -veranos e inviernos-, esperamos que los modelos que lo</a:t>
            </a:r>
          </a:p>
          <a:p>
            <a:pPr>
              <a:defRPr sz="1200"/>
            </a:pPr>
            <a:r>
              <a:t>capturan directamente le ganen claramente a ARIMA, que no lo modela. Y como notamos que</a:t>
            </a:r>
          </a:p>
          <a:p>
            <a:pPr>
              <a:defRPr sz="1200"/>
            </a:pPr>
            <a:r>
              <a:t>hay meses más volátiles que otros, agregamos GARCH como un análisis extra para medir esa</a:t>
            </a:r>
          </a:p>
          <a:p>
            <a:pPr>
              <a:defRPr sz="1200"/>
            </a:pPr>
            <a:r>
              <a:t>variabilidad.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200"/>
            </a:pPr>
            <a:r>
              <a:t>Los datos vienen de un dataset público de Kaggle que tiene la generación eléctrica</a:t>
            </a:r>
          </a:p>
          <a:p>
            <a:pPr>
              <a:defRPr sz="1200"/>
            </a:pPr>
            <a:r>
              <a:t>mensual de 48 países. De ahí nos quedamos solo con Argentina, y dentro de los distintos</a:t>
            </a:r>
          </a:p>
          <a:p>
            <a:pPr>
              <a:defRPr sz="1200"/>
            </a:pPr>
            <a:r>
              <a:t>indicadores que trae, usamos la generación neta total -para no mezclar ni duplicar</a:t>
            </a:r>
          </a:p>
          <a:p>
            <a:pPr>
              <a:defRPr sz="1200"/>
            </a:pPr>
            <a:r>
              <a:t>valores por tipo de fuente de energía-.</a:t>
            </a:r>
          </a:p>
          <a:p>
            <a:pPr>
              <a:defRPr sz="1200"/>
            </a:pPr>
            <a:r>
              <a:t>El resultado es una serie muy simple de leer: un valor de generación eléctrica, en</a:t>
            </a:r>
          </a:p>
          <a:p>
            <a:pPr>
              <a:defRPr sz="1200"/>
            </a:pPr>
            <a:r>
              <a:t>gigavatios-hora, por cada uno de los 108 meses entre enero de 2015 y diciembre de 2023.</a:t>
            </a:r>
          </a:p>
          <a:p>
            <a:pPr>
              <a:defRPr sz="1200"/>
            </a:pPr>
            <a:r>
              <a:t>Esa es la serie univariada sobre la que trabajamos todo el análisis.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200"/>
            </a:pPr>
            <a:r>
              <a:t>Antes de modelar, lo primero es chequear que los datos estén bien. Y en este caso la</a:t>
            </a:r>
          </a:p>
          <a:p>
            <a:pPr>
              <a:defRPr sz="1200"/>
            </a:pPr>
            <a:r>
              <a:t>buena noticia es que la serie viene muy limpia: no hay meses faltantes, no hay valores</a:t>
            </a:r>
          </a:p>
          <a:p>
            <a:pPr>
              <a:defRPr sz="1200"/>
            </a:pPr>
            <a:r>
              <a:t>nulos, y al aplicar el método estándar de detección de outliers no encontramos ninguno.</a:t>
            </a:r>
          </a:p>
          <a:p>
            <a:pPr>
              <a:defRPr sz="1200"/>
            </a:pPr>
            <a:r>
              <a:t>Mirando las estadísticas descriptivas, la generación promedio es de unos 33.800 GWh por</a:t>
            </a:r>
          </a:p>
          <a:p>
            <a:pPr>
              <a:defRPr sz="1200"/>
            </a:pPr>
            <a:r>
              <a:t>mes, con una variación de alrededor del 9% respecto a ese promedio. Esa variación</a:t>
            </a:r>
          </a:p>
          <a:p>
            <a:pPr>
              <a:defRPr sz="1200"/>
            </a:pPr>
            <a:r>
              <a:t>relativamente moderada es una primera pista de que el comportamiento de la serie está</a:t>
            </a:r>
          </a:p>
          <a:p>
            <a:pPr>
              <a:defRPr sz="1200"/>
            </a:pPr>
            <a:r>
              <a:t>dominado por un patrón que se repite -la estacionalidad- y no por saltos erráticos.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200"/>
            </a:pPr>
            <a:r>
              <a:t>Este es el primer gráfico que armamos, y ya cuenta gran parte de la historia. Se ve que</a:t>
            </a:r>
          </a:p>
          <a:p>
            <a:pPr>
              <a:defRPr sz="1200"/>
            </a:pPr>
            <a:r>
              <a:t>la serie oscila siempre alrededor de un nivel promedio de unos 33.800 GWh por mes, sin</a:t>
            </a:r>
          </a:p>
          <a:p>
            <a:pPr>
              <a:defRPr sz="1200"/>
            </a:pPr>
            <a:r>
              <a:t>una tendencia clara de crecimiento o caída a lo largo de los nueve años -de hecho hicimos</a:t>
            </a:r>
          </a:p>
          <a:p>
            <a:pPr>
              <a:defRPr sz="1200"/>
            </a:pPr>
            <a:r>
              <a:t>una prueba estadística (correlación de Spearman) que confirma que no hay una tendencia</a:t>
            </a:r>
          </a:p>
          <a:p>
            <a:pPr>
              <a:defRPr sz="1200"/>
            </a:pPr>
            <a:r>
              <a:t>significativa-.</a:t>
            </a:r>
          </a:p>
          <a:p>
            <a:pPr>
              <a:defRPr sz="1200"/>
            </a:pPr>
            <a:r>
              <a:t>Lo que sí se nota a simple vista son dos cosas: primero, un patrón que se repite todos</a:t>
            </a:r>
          </a:p>
          <a:p>
            <a:pPr>
              <a:defRPr sz="1200"/>
            </a:pPr>
            <a:r>
              <a:t>los años, con subidas en verano e invierno; y segundo, una caída bastante marcada en los</a:t>
            </a:r>
          </a:p>
          <a:p>
            <a:pPr>
              <a:defRPr sz="1200"/>
            </a:pPr>
            <a:r>
              <a:t>últimos dos años -2022 y 2023-, que más adelante vamos a ver que le complica la vida a</a:t>
            </a:r>
          </a:p>
          <a:p>
            <a:pPr>
              <a:defRPr sz="1200"/>
            </a:pPr>
            <a:r>
              <a:t>todos los modelos al momento de evaluar.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200"/>
            </a:pPr>
            <a:r>
              <a:t>Esta tabla muestra cuánto varió la generación eléctrica de un año a otro. Se ve que en</a:t>
            </a:r>
          </a:p>
          <a:p>
            <a:pPr>
              <a:defRPr sz="1200"/>
            </a:pPr>
            <a:r>
              <a:t>la mayoría de los años los cambios son moderados, para arriba o para abajo. Pero en los</a:t>
            </a:r>
          </a:p>
          <a:p>
            <a:pPr>
              <a:defRPr sz="1200"/>
            </a:pPr>
            <a:r>
              <a:t>dos últimos años -2022 y 2023, resaltados en naranja- la caída es mucho más fuerte:</a:t>
            </a:r>
          </a:p>
          <a:p>
            <a:pPr>
              <a:defRPr sz="1200"/>
            </a:pPr>
            <a:r>
              <a:t>-11,6% y -19,3%.</a:t>
            </a:r>
          </a:p>
          <a:p>
            <a:pPr>
              <a:defRPr sz="1200"/>
            </a:pPr>
            <a:r>
              <a:t>Esto es importante porque justamente esos dos años -sobre todo 2023- son los que vamos a</a:t>
            </a:r>
          </a:p>
          <a:p>
            <a:pPr>
              <a:defRPr sz="1200"/>
            </a:pPr>
            <a:r>
              <a:t>usar para evaluar qué tan bien predicen los modelos. Como ningún modelo "sabe" de</a:t>
            </a:r>
          </a:p>
          <a:p>
            <a:pPr>
              <a:defRPr sz="1200"/>
            </a:pPr>
            <a:r>
              <a:t>antemano que viene esa caída tan fuerte, todos van a tener cierto error en ese tramo.</a:t>
            </a:r>
          </a:p>
          <a:p>
            <a:pPr>
              <a:defRPr sz="1200"/>
            </a:pPr>
            <a:r>
              <a:t>Además, esta variación mes a mes no es siempre igual: hay períodos más tranquilos y</a:t>
            </a:r>
          </a:p>
          <a:p>
            <a:pPr>
              <a:defRPr sz="1200"/>
            </a:pPr>
            <a:r>
              <a:t>otros más movidos, algo que retomamos más adelante con el modelo GARCH.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200"/>
            </a:pPr>
            <a:r>
              <a:t>Para entender mejor la serie, la "desarmamos" en tres piezas: una tendencia de largo</a:t>
            </a:r>
          </a:p>
          <a:p>
            <a:pPr>
              <a:defRPr sz="1200"/>
            </a:pPr>
            <a:r>
              <a:t>plazo, un patrón estacional que se repite cada año, y un residuo -lo que queda sin</a:t>
            </a:r>
          </a:p>
          <a:p>
            <a:pPr>
              <a:defRPr sz="1200"/>
            </a:pPr>
            <a:r>
              <a:t>explicar-. Hay dos formas de combinar esas piezas: sumándolas (esquema aditivo, a la</a:t>
            </a:r>
          </a:p>
          <a:p>
            <a:pPr>
              <a:defRPr sz="1200"/>
            </a:pPr>
            <a:r>
              <a:t>izquierda) o multiplicándolas (esquema multiplicativo, a la derecha).</a:t>
            </a:r>
          </a:p>
          <a:p>
            <a:pPr>
              <a:defRPr sz="1200"/>
            </a:pPr>
            <a:r>
              <a:t>La diferencia práctica es si el tamaño de los picos estacionales se mantiene constante</a:t>
            </a:r>
          </a:p>
          <a:p>
            <a:pPr>
              <a:defRPr sz="1200"/>
            </a:pPr>
            <a:r>
              <a:t>en GWh (aditivo) o si crece en proporción al nivel de la serie (multiplicativo). En</a:t>
            </a:r>
          </a:p>
          <a:p>
            <a:pPr>
              <a:defRPr sz="1200"/>
            </a:pPr>
            <a:r>
              <a:t>nuestro caso, ambos esquemas dejan residuos muy similares, por lo que no descartamos</a:t>
            </a:r>
          </a:p>
          <a:p>
            <a:pPr>
              <a:defRPr sz="1200"/>
            </a:pPr>
            <a:r>
              <a:t>ninguno de entrada: más adelante probamos las dos variantes con Holt-Winters y dejamos</a:t>
            </a:r>
          </a:p>
          <a:p>
            <a:pPr>
              <a:defRPr sz="1200"/>
            </a:pPr>
            <a:r>
              <a:t>que los resultados decidan.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200"/>
            </a:pPr>
            <a:r>
              <a:t>Este gráfico de la izquierda es clave para entender todo el trabajo: muestra el promedio</a:t>
            </a:r>
          </a:p>
          <a:p>
            <a:pPr>
              <a:defRPr sz="1200"/>
            </a:pPr>
            <a:r>
              <a:t>de generación para cada mes del año, y se ve clarísimo un patrón "bimodal", con dos</a:t>
            </a:r>
          </a:p>
          <a:p>
            <a:pPr>
              <a:defRPr sz="1200"/>
            </a:pPr>
            <a:r>
              <a:t>picos -uno en verano, por el uso de aire acondicionado, y otro en invierno, por la</a:t>
            </a:r>
          </a:p>
          <a:p>
            <a:pPr>
              <a:defRPr sz="1200"/>
            </a:pPr>
            <a:r>
              <a:t>calefacción-, con valles en otoño y primavera.</a:t>
            </a:r>
          </a:p>
          <a:p>
            <a:pPr>
              <a:defRPr sz="1200"/>
            </a:pPr>
            <a:r>
              <a:t>Este es justamente el patrón que un modelo sin componente estacional, como ARIMA simple,</a:t>
            </a:r>
          </a:p>
          <a:p>
            <a:pPr>
              <a:defRPr sz="1200"/>
            </a:pPr>
            <a:r>
              <a:t>no puede captar. A la derecha, suavizando la serie con un promedio de 12 meses, se ve el</a:t>
            </a:r>
          </a:p>
          <a:p>
            <a:pPr>
              <a:defRPr sz="1200"/>
            </a:pPr>
            <a:r>
              <a:t>nivel general: bastante estable hasta 2021, y con la caída sostenida que ya mencionamos</a:t>
            </a:r>
          </a:p>
          <a:p>
            <a:pPr>
              <a:defRPr sz="1200"/>
            </a:pPr>
            <a:r>
              <a:t>en 2022-2023.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200"/>
            </a:pPr>
            <a:r>
              <a:t>Una vez que separamos tendencia y estacionalidad, queda un "resto" -el residuo-. La</a:t>
            </a:r>
          </a:p>
          <a:p>
            <a:pPr>
              <a:defRPr sz="1200"/>
            </a:pPr>
            <a:r>
              <a:t>pregunta es: ¿ese resto tiene algún patrón escondido que se nos pasó, o es simplemente</a:t>
            </a:r>
          </a:p>
          <a:p>
            <a:pPr>
              <a:defRPr sz="1200"/>
            </a:pPr>
            <a:r>
              <a:t>ruido sin estructura?</a:t>
            </a:r>
          </a:p>
          <a:p>
            <a:pPr>
              <a:defRPr sz="1200"/>
            </a:pPr>
            <a:r>
              <a:t>Hicimos dos chequeos: uno de normalidad, que confirma que los residuos se distribuyen</a:t>
            </a:r>
          </a:p>
          <a:p>
            <a:pPr>
              <a:defRPr sz="1200"/>
            </a:pPr>
            <a:r>
              <a:t>de forma normal; y uno de estacionariedad sobre esos residuos, que confirma que son</a:t>
            </a:r>
          </a:p>
          <a:p>
            <a:pPr>
              <a:defRPr sz="1200"/>
            </a:pPr>
            <a:r>
              <a:t>estables en el tiempo. En el gráfico de autocorrelación de la derecha tampoco se ven</a:t>
            </a:r>
          </a:p>
          <a:p>
            <a:pPr>
              <a:defRPr sz="1200"/>
            </a:pPr>
            <a:r>
              <a:t>patrones llamativos. Conclusión: la descomposición en tendencia + estacionalidad explica</a:t>
            </a:r>
          </a:p>
          <a:p>
            <a:pPr>
              <a:defRPr sz="1200"/>
            </a:pPr>
            <a:r>
              <a:t>bien la serie, y lo que queda es efectivamente "ruido".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200"/>
            </a:pPr>
            <a:r>
              <a:t>Antes de armar el ARIMA y el SARIMA, tenemos que chequear si la serie es "estable" en el</a:t>
            </a:r>
          </a:p>
          <a:p>
            <a:pPr>
              <a:defRPr sz="1200"/>
            </a:pPr>
            <a:r>
              <a:t>tiempo -en la jerga, "estacionaria"-. Para eso usamos dos pruebas estadísticas distintas</a:t>
            </a:r>
          </a:p>
          <a:p>
            <a:pPr>
              <a:defRPr sz="1200"/>
            </a:pPr>
            <a:r>
              <a:t>que se complementan: si ambas coinciden en la misma conclusión, podemos confiar más en</a:t>
            </a:r>
          </a:p>
          <a:p>
            <a:pPr>
              <a:defRPr sz="1200"/>
            </a:pPr>
            <a:r>
              <a:t>el resultado.</a:t>
            </a:r>
          </a:p>
          <a:p>
            <a:pPr>
              <a:defRPr sz="1200"/>
            </a:pPr>
            <a:r>
              <a:t>La tabla resume lo que encontramos: la serie original no pasa del todo la primera prueba.</a:t>
            </a:r>
          </a:p>
          <a:p>
            <a:pPr>
              <a:defRPr sz="1200"/>
            </a:pPr>
            <a:r>
              <a:t>Aplicando una diferenciación simple -comparar cada mes con el anterior- mejora bastante.</a:t>
            </a:r>
          </a:p>
          <a:p>
            <a:pPr>
              <a:defRPr sz="1200"/>
            </a:pPr>
            <a:r>
              <a:t>Aplicando solo la diferenciación estacional -comparar cada mes con el mismo mes del año</a:t>
            </a:r>
          </a:p>
          <a:p>
            <a:pPr>
              <a:defRPr sz="1200"/>
            </a:pPr>
            <a:r>
              <a:t>anterior- no alcanza. Pero combinando las dos diferenciaciones, la serie queda estable</a:t>
            </a:r>
          </a:p>
          <a:p>
            <a:pPr>
              <a:defRPr sz="1200"/>
            </a:pPr>
            <a:r>
              <a:t>según ambas pruebas. Por eso el SARIMA que armamos usa esas dos diferenciaciones, lo que</a:t>
            </a:r>
          </a:p>
          <a:p>
            <a:pPr>
              <a:defRPr sz="1200"/>
            </a:pPr>
            <a:r>
              <a:t>en la jerga técnica se anota como d=1 y D=1.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200"/>
            </a:pPr>
            <a:r>
              <a:t>Acá tenemos los cuatro modelos que vamos a comparar. ARIMA es el más simple y nuestro</a:t>
            </a:r>
          </a:p>
          <a:p>
            <a:pPr>
              <a:defRPr sz="1200"/>
            </a:pPr>
            <a:r>
              <a:t>punto de partida -no tiene en cuenta la estacionalidad-. SARIMA es básicamente ARIMA más</a:t>
            </a:r>
          </a:p>
          <a:p>
            <a:pPr>
              <a:defRPr sz="1200"/>
            </a:pPr>
            <a:r>
              <a:t>el ciclo de 12 meses. Holt-Winters tiene dos versiones, aditiva y multiplicativa, que se</a:t>
            </a:r>
          </a:p>
          <a:p>
            <a:pPr>
              <a:defRPr sz="1200"/>
            </a:pPr>
            <a:r>
              <a:t>diferencian en cómo tratan el tamaño de la estacionalidad. Y Prophet es el modelo de Meta,</a:t>
            </a:r>
          </a:p>
          <a:p>
            <a:pPr>
              <a:defRPr sz="1200"/>
            </a:pPr>
            <a:r>
              <a:t>que ajusta automáticamente tendencia y estacionalidad sin que tengamos que elegir tantos</a:t>
            </a:r>
          </a:p>
          <a:p>
            <a:pPr>
              <a:defRPr sz="1200"/>
            </a:pPr>
            <a:r>
              <a:t>parámetros a mano.</a:t>
            </a:r>
          </a:p>
          <a:p>
            <a:pPr>
              <a:defRPr sz="1200"/>
            </a:pPr>
            <a:r>
              <a:t>Para que la comparación sea justa, a todos los entrenamos con los datos de 2015 a 2022, y</a:t>
            </a:r>
          </a:p>
          <a:p>
            <a:pPr>
              <a:defRPr sz="1200"/>
            </a:pPr>
            <a:r>
              <a:t>los evaluamos viendo qué tan bien predicen 2023 -que ninguno vio durante el entrenamiento-.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200"/>
            </a:pPr>
            <a:r>
              <a:t>Empezamos con ARIMA, el modelo más simple de los cuatro. Básicamente mira el valor del</a:t>
            </a:r>
          </a:p>
          <a:p>
            <a:pPr>
              <a:defRPr sz="1200"/>
            </a:pPr>
            <a:r>
              <a:t>mes anterior y los errores recientes para proyectar el siguiente mes, pero no tiene</a:t>
            </a:r>
          </a:p>
          <a:p>
            <a:pPr>
              <a:defRPr sz="1200"/>
            </a:pPr>
            <a:r>
              <a:t>ningún concepto de "ciclo anual": no sabe que enero se parece a otros eneros.</a:t>
            </a:r>
          </a:p>
          <a:p>
            <a:pPr>
              <a:defRPr sz="1200"/>
            </a:pPr>
            <a:r>
              <a:t>Por eso esperamos que sea el que peor desempeño tenga, justamente porque nuestra serie</a:t>
            </a:r>
          </a:p>
          <a:p>
            <a:pPr>
              <a:defRPr sz="1200"/>
            </a:pPr>
            <a:r>
              <a:t>tiene una estacionalidad tan marcada. Lo incluimos como punto de referencia: si los demás</a:t>
            </a:r>
          </a:p>
          <a:p>
            <a:pPr>
              <a:defRPr sz="1200"/>
            </a:pPr>
            <a:r>
              <a:t>modelos no le ganan claramente a ARIMA, no estaría justificado usar algo más complejo.</a:t>
            </a:r>
          </a:p>
          <a:p>
            <a:pPr>
              <a:defRPr sz="1200"/>
            </a:pPr>
            <a:r>
              <a:t>En el gráfico se puede ver que su pronóstico para 2023 es bastante "plano", sin replicar</a:t>
            </a:r>
          </a:p>
          <a:p>
            <a:pPr>
              <a:defRPr sz="1200"/>
            </a:pPr>
            <a:r>
              <a:t>los picos de verano e invierno.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200"/>
            </a:pPr>
            <a:r>
              <a:t>SARIMA es, en esencia, ARIMA potenciado con un componente estacional. Además de mirar el</a:t>
            </a:r>
          </a:p>
          <a:p>
            <a:pPr>
              <a:defRPr sz="1200"/>
            </a:pPr>
            <a:r>
              <a:t>mes anterior, compara cada mes con el mismo mes del año pasado -por ejemplo, este enero</a:t>
            </a:r>
          </a:p>
          <a:p>
            <a:pPr>
              <a:defRPr sz="1200"/>
            </a:pPr>
            <a:r>
              <a:t>con el enero anterior-. Las dos diferenciaciones que justificamos con las pruebas ADF y</a:t>
            </a:r>
          </a:p>
          <a:p>
            <a:pPr>
              <a:defRPr sz="1200"/>
            </a:pPr>
            <a:r>
              <a:t>KPSS están incorporadas en este modelo.</a:t>
            </a:r>
          </a:p>
          <a:p>
            <a:pPr>
              <a:defRPr sz="1200"/>
            </a:pPr>
            <a:r>
              <a:t>Por construcción, este es el candidato más lógico para una serie con un patrón estacional</a:t>
            </a:r>
          </a:p>
          <a:p>
            <a:pPr>
              <a:defRPr sz="1200"/>
            </a:pPr>
            <a:r>
              <a:t>tan fuerte como el nuestro, y en el gráfico ya se nota: el pronóstico para 2023 sigue la</a:t>
            </a:r>
          </a:p>
          <a:p>
            <a:pPr>
              <a:defRPr sz="1200"/>
            </a:pPr>
            <a:r>
              <a:t>forma de los picos de verano e invierno, a diferencia del pronóstico plano de ARIMA.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200"/>
            </a:pPr>
            <a:r>
              <a:t>Holt-Winters funciona distinto: en lugar de buscar fórmulas matemáticas complejas, separa</a:t>
            </a:r>
          </a:p>
          <a:p>
            <a:pPr>
              <a:defRPr sz="1200"/>
            </a:pPr>
            <a:r>
              <a:t>la serie en tres piezas -nivel, tendencia y estacionalidad- y las va "suavizando" y</a:t>
            </a:r>
          </a:p>
          <a:p>
            <a:pPr>
              <a:defRPr sz="1200"/>
            </a:pPr>
            <a:r>
              <a:t>actualizando mes a mes, dándole más o menos peso a los datos recientes.</a:t>
            </a:r>
          </a:p>
          <a:p>
            <a:pPr>
              <a:defRPr sz="1200"/>
            </a:pPr>
            <a:r>
              <a:t>Probamos dos versiones: la aditiva, donde el efecto estacional siempre suma o resta la</a:t>
            </a:r>
          </a:p>
          <a:p>
            <a:pPr>
              <a:defRPr sz="1200"/>
            </a:pPr>
            <a:r>
              <a:t>misma cantidad de GWh; y la multiplicativa, donde ese efecto es un porcentaje del nivel</a:t>
            </a:r>
          </a:p>
          <a:p>
            <a:pPr>
              <a:defRPr sz="1200"/>
            </a:pPr>
            <a:r>
              <a:t>actual. Como vimos en la descomposición, ambas variantes eran candidatas razonables, así</a:t>
            </a:r>
          </a:p>
          <a:p>
            <a:pPr>
              <a:defRPr sz="1200"/>
            </a:pPr>
            <a:r>
              <a:t>que las probamos a las dos y dejamos que la comparación final decida cuál funciona mejor.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200"/>
            </a:pPr>
            <a:r>
              <a:t>El cuarto modelo es Prophet, desarrollado por Meta y muy usado en la industria para</a:t>
            </a:r>
          </a:p>
          <a:p>
            <a:pPr>
              <a:defRPr sz="1200"/>
            </a:pPr>
            <a:r>
              <a:t>pronósticos de negocio. También separa la serie en tendencia y estacionalidad, pero lo</a:t>
            </a:r>
          </a:p>
          <a:p>
            <a:pPr>
              <a:defRPr sz="1200"/>
            </a:pPr>
            <a:r>
              <a:t>hace de forma automática, usando una técnica matemática llamada series de Fourier para</a:t>
            </a:r>
          </a:p>
          <a:p>
            <a:pPr>
              <a:defRPr sz="1200"/>
            </a:pPr>
            <a:r>
              <a:t>representar el ciclo anual.</a:t>
            </a:r>
          </a:p>
          <a:p>
            <a:pPr>
              <a:defRPr sz="1200"/>
            </a:pPr>
            <a:r>
              <a:t>La ventaja es que no tenemos que elegir tantos parámetros a mano ni preocuparnos por la</a:t>
            </a:r>
          </a:p>
          <a:p>
            <a:pPr>
              <a:defRPr sz="1200"/>
            </a:pPr>
            <a:r>
              <a:t>estacionariedad. Lo incluimos como un cuarto modelo de referencia, muy usado en la</a:t>
            </a:r>
          </a:p>
          <a:p>
            <a:pPr>
              <a:defRPr sz="1200"/>
            </a:pPr>
            <a:r>
              <a:t>práctica, para ver cómo se compara contra los enfoques más "clásicos" como SARIMA y</a:t>
            </a:r>
          </a:p>
          <a:p>
            <a:pPr>
              <a:defRPr sz="1200"/>
            </a:pPr>
            <a:r>
              <a:t>Holt-Winters.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200"/>
            </a:pPr>
            <a:r>
              <a:t>Este es el resultado clave de todo el trabajo. Para comparar los modelos usamos el MAPE,</a:t>
            </a:r>
          </a:p>
          <a:p>
            <a:pPr>
              <a:defRPr sz="1200"/>
            </a:pPr>
            <a:r>
              <a:t>que es el error promedio expresado en porcentaje: si el MAPE es 8%, en promedio el</a:t>
            </a:r>
          </a:p>
          <a:p>
            <a:pPr>
              <a:defRPr sz="1200"/>
            </a:pPr>
            <a:r>
              <a:t>modelo se equivoca un 8% del valor real. Es una métrica fácil de comunicar porque no</a:t>
            </a:r>
          </a:p>
          <a:p>
            <a:pPr>
              <a:defRPr sz="1200"/>
            </a:pPr>
            <a:r>
              <a:t>depende de la unidad -GWh-, sino que es relativa.</a:t>
            </a:r>
          </a:p>
          <a:p>
            <a:pPr>
              <a:defRPr sz="1200"/>
            </a:pPr>
            <a:r>
              <a:t>El ganador fue SARIMA, con un error de 8,15%. Le siguen las dos versiones de</a:t>
            </a:r>
          </a:p>
          <a:p>
            <a:pPr>
              <a:defRPr sz="1200"/>
            </a:pPr>
            <a:r>
              <a:t>Holt-Winters, alrededor del 9%, después Prophet con 11,6%, y por último ARIMA con 13%.</a:t>
            </a:r>
          </a:p>
          <a:p>
            <a:pPr>
              <a:defRPr sz="1200"/>
            </a:pPr>
            <a:r>
              <a:t>Este resultado confirma nuestra hipótesis inicial: el modelo que mejor capta el patrón</a:t>
            </a:r>
          </a:p>
          <a:p>
            <a:pPr>
              <a:defRPr sz="1200"/>
            </a:pPr>
            <a:r>
              <a:t>estacional -SARIMA- es el que predice mejor, y la diferencia con ARIMA -que no lo tiene</a:t>
            </a:r>
          </a:p>
          <a:p>
            <a:pPr>
              <a:defRPr sz="1200"/>
            </a:pPr>
            <a:r>
              <a:t>en cuenta- es de casi 5 puntos porcentuales. Usamos también otras dos métricas, MAE y</a:t>
            </a:r>
          </a:p>
          <a:p>
            <a:pPr>
              <a:defRPr sz="1200"/>
            </a:pPr>
            <a:r>
              <a:t>RMSE, y el orden de los modelos es el mismo en las tres, lo que le da más solidez a esta</a:t>
            </a:r>
          </a:p>
          <a:p>
            <a:pPr>
              <a:defRPr sz="1200"/>
            </a:pPr>
            <a:r>
              <a:t>conclusión.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200"/>
            </a:pPr>
            <a:r>
              <a:t>Acá podemos ver en detalle qué tan bien predijo SARIMA comparado con lo que realmente</a:t>
            </a:r>
          </a:p>
          <a:p>
            <a:pPr>
              <a:defRPr sz="1200"/>
            </a:pPr>
            <a:r>
              <a:t>pasó en 2023. La línea de predicción sigue de cerca a la línea real, incluyendo la forma</a:t>
            </a:r>
          </a:p>
          <a:p>
            <a:pPr>
              <a:defRPr sz="1200"/>
            </a:pPr>
            <a:r>
              <a:t>de los picos de verano e invierno -algo que, como vimos, ARIMA no lograba-.</a:t>
            </a:r>
          </a:p>
          <a:p>
            <a:pPr>
              <a:defRPr sz="1200"/>
            </a:pPr>
            <a:r>
              <a:t>Las mayores diferencias entre predicción y realidad aparecen en los meses donde la</a:t>
            </a:r>
          </a:p>
          <a:p>
            <a:pPr>
              <a:defRPr sz="1200"/>
            </a:pPr>
            <a:r>
              <a:t>caída de generación de 2023 fue más pronunciada, justamente porque el modelo se entrenó</a:t>
            </a:r>
          </a:p>
          <a:p>
            <a:pPr>
              <a:defRPr sz="1200"/>
            </a:pPr>
            <a:r>
              <a:t>con datos hasta 2022 y no podía "saber" que venía esa baja tan marcada.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200"/>
            </a:pPr>
            <a:r>
              <a:t>Que SARIMA haya tenido el menor error no es suficiente: también queremos confirmar que</a:t>
            </a:r>
          </a:p>
          <a:p>
            <a:pPr>
              <a:defRPr sz="1200"/>
            </a:pPr>
            <a:r>
              <a:t>está "bien armado", es decir, que no dejó información sin aprovechar. Para eso miramos</a:t>
            </a:r>
          </a:p>
          <a:p>
            <a:pPr>
              <a:defRPr sz="1200"/>
            </a:pPr>
            <a:r>
              <a:t>los residuos -la diferencia entre lo predicho y lo real- y les hacemos una prueba</a:t>
            </a:r>
          </a:p>
          <a:p>
            <a:pPr>
              <a:defRPr sz="1200"/>
            </a:pPr>
            <a:r>
              <a:t>llamada Ljung-Box, que chequea si queda algún patrón escondido.</a:t>
            </a:r>
          </a:p>
          <a:p>
            <a:pPr>
              <a:defRPr sz="1200"/>
            </a:pPr>
            <a:r>
              <a:t>La tabla muestra que, para todos los horizontes que probamos -incluso a 12 y 24 meses,</a:t>
            </a:r>
          </a:p>
          <a:p>
            <a:pPr>
              <a:defRPr sz="1200"/>
            </a:pPr>
            <a:r>
              <a:t>que son justamente los "ciclos" anuales-, la respuesta es que no quedan patrones sin</a:t>
            </a:r>
          </a:p>
          <a:p>
            <a:pPr>
              <a:defRPr sz="1200"/>
            </a:pPr>
            <a:r>
              <a:t>explicar. Esto confirma que SARIMA no solo predijo mejor, sino que está correctamente</a:t>
            </a:r>
          </a:p>
          <a:p>
            <a:pPr>
              <a:defRPr sz="1200"/>
            </a:pPr>
            <a:r>
              <a:t>especificado: no hay una versión "más simple que se nos escapó" que pudiera mejorar el</a:t>
            </a:r>
          </a:p>
          <a:p>
            <a:pPr>
              <a:defRPr sz="1200"/>
            </a:pPr>
            <a:r>
              <a:t>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200"/>
            </a:pPr>
            <a:r>
              <a:t>Como extensión, probamos qué pasaría si dejábamos que una búsqueda automática eligiera</a:t>
            </a:r>
          </a:p>
          <a:p>
            <a:pPr>
              <a:defRPr sz="1200"/>
            </a:pPr>
            <a:r>
              <a:t>la configuración de SARIMA, en lugar de elegirla nosotros. Esa búsqueda recorre muchas</a:t>
            </a:r>
          </a:p>
          <a:p>
            <a:pPr>
              <a:defRPr sz="1200"/>
            </a:pPr>
            <a:r>
              <a:t>combinaciones posibles y elige la que tiene mejor "puntaje" interno, llamado AIC, que</a:t>
            </a:r>
          </a:p>
          <a:p>
            <a:pPr>
              <a:defRPr sz="1200"/>
            </a:pPr>
            <a:r>
              <a:t>mide qué tan bien se ajusta el modelo a los datos de entrenamiento penalizando la</a:t>
            </a:r>
          </a:p>
          <a:p>
            <a:pPr>
              <a:defRPr sz="1200"/>
            </a:pPr>
            <a:r>
              <a:t>complejidad.</a:t>
            </a:r>
          </a:p>
          <a:p>
            <a:pPr>
              <a:defRPr sz="1200"/>
            </a:pPr>
            <a:r>
              <a:t>La configuración elegida automáticamente tuvo un puntaje apenas mejor que la nuestra.</a:t>
            </a:r>
          </a:p>
          <a:p>
            <a:pPr>
              <a:defRPr sz="1200"/>
            </a:pPr>
            <a:r>
              <a:t>Pero cuando las hicimos competir prediciendo 2023 -los datos reales que nos interesan-,</a:t>
            </a:r>
          </a:p>
          <a:p>
            <a:pPr>
              <a:defRPr sz="1200"/>
            </a:pPr>
            <a:r>
              <a:t>nuestra configuración elegida a mano predijo mejor: 8,15% de error contra 9,47%. La</a:t>
            </a:r>
          </a:p>
          <a:p>
            <a:pPr>
              <a:defRPr sz="1200"/>
            </a:pPr>
            <a:r>
              <a:t>moraleja es importante: un buen puntaje "interno" no garantiza el mejor pronóstico en la</a:t>
            </a:r>
          </a:p>
          <a:p>
            <a:pPr>
              <a:defRPr sz="1200"/>
            </a:pPr>
            <a:r>
              <a:t>práctica, por eso es clave validar siempre contra datos reales que el modelo no vio.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200"/>
            </a:pPr>
            <a:r>
              <a:t>Como bonus, agregamos un análisis de volatilidad con un modelo llamado GARCH. La idea es</a:t>
            </a:r>
          </a:p>
          <a:p>
            <a:pPr>
              <a:defRPr sz="1200"/>
            </a:pPr>
            <a:r>
              <a:t>distinta a todo lo anterior: en lugar de predecir el valor promedio, predice qué tan</a:t>
            </a:r>
          </a:p>
          <a:p>
            <a:pPr>
              <a:defRPr sz="1200"/>
            </a:pPr>
            <a:r>
              <a:t>"ancho" debería ser el margen de error en cada momento -es decir, mide qué tan "nerviosa"</a:t>
            </a:r>
          </a:p>
          <a:p>
            <a:pPr>
              <a:defRPr sz="1200"/>
            </a:pPr>
            <a:r>
              <a:t>está la serie-.</a:t>
            </a:r>
          </a:p>
          <a:p>
            <a:pPr>
              <a:defRPr sz="1200"/>
            </a:pPr>
            <a:r>
              <a:t>Encontramos que hay cierta "memoria" en la volatilidad: si un mes es movido, es más</a:t>
            </a:r>
          </a:p>
          <a:p>
            <a:pPr>
              <a:defRPr sz="1200"/>
            </a:pPr>
            <a:r>
              <a:t>probable que el siguiente también lo sea. Pero un shock puntual aislado no necesariamente</a:t>
            </a:r>
          </a:p>
          <a:p>
            <a:pPr>
              <a:defRPr sz="1200"/>
            </a:pPr>
            <a:r>
              <a:t>dispara por sí solo un período de alta volatilidad. En la práctica, esto nos permite dar</a:t>
            </a:r>
          </a:p>
          <a:p>
            <a:pPr>
              <a:defRPr sz="1200"/>
            </a:pPr>
            <a:r>
              <a:t>intervalos de confianza más realistas: más anchos en los períodos movidos, y más angostos</a:t>
            </a:r>
          </a:p>
          <a:p>
            <a:pPr>
              <a:defRPr sz="1200"/>
            </a:pPr>
            <a:r>
              <a:t>en los tranquilos, en lugar de un margen de error fijo para todos los meses.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200"/>
            </a:pPr>
            <a:r>
              <a:t>Por último, usamos SARIMA -nuestro modelo ganador- reentrenado con todos los datos</a:t>
            </a:r>
          </a:p>
          <a:p>
            <a:pPr>
              <a:defRPr sz="1200"/>
            </a:pPr>
            <a:r>
              <a:t>disponibles, de 2015 a 2023, para proyectar los 12 meses de 2024. El gráfico muestra esa</a:t>
            </a:r>
          </a:p>
          <a:p>
            <a:pPr>
              <a:defRPr sz="1200"/>
            </a:pPr>
            <a:r>
              <a:t>proyección junto con una banda de confianza del 95%.</a:t>
            </a:r>
          </a:p>
          <a:p>
            <a:pPr>
              <a:defRPr sz="1200"/>
            </a:pPr>
            <a:r>
              <a:t>Como era de esperar, el pronóstico reproduce el mismo patrón bimodal que vimos en toda la</a:t>
            </a:r>
          </a:p>
          <a:p>
            <a:pPr>
              <a:defRPr sz="1200"/>
            </a:pPr>
            <a:r>
              <a:t>serie: picos en enero y en junio-julio. La tabla muestra, para algunos meses, el valor</a:t>
            </a:r>
          </a:p>
          <a:p>
            <a:pPr>
              <a:defRPr sz="1200"/>
            </a:pPr>
            <a:r>
              <a:t>esperado y el rango -mínimo y máximo- dentro del cual esperamos que caiga el valor real</a:t>
            </a:r>
          </a:p>
          <a:p>
            <a:pPr>
              <a:defRPr sz="1200"/>
            </a:pPr>
            <a:r>
              <a:t>con un 95% de confianza. Esta es la salida que un equipo de planificación energética</a:t>
            </a:r>
          </a:p>
          <a:p>
            <a:pPr>
              <a:defRPr sz="1200"/>
            </a:pPr>
            <a:r>
              <a:t>podría usar como insumo para sus decisiones.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200"/>
            </a:pPr>
            <a:r>
              <a:t>Para cerrar, repasemos las conclusiones principales. La pregunta que nos hicimos al</a:t>
            </a:r>
          </a:p>
          <a:p>
            <a:pPr>
              <a:defRPr sz="1200"/>
            </a:pPr>
            <a:r>
              <a:t>principio queda respondida: SARIMA fue el modelo más preciso, con un error de 8,15%, y</a:t>
            </a:r>
          </a:p>
          <a:p>
            <a:pPr>
              <a:defRPr sz="1200"/>
            </a:pPr>
            <a:r>
              <a:t>esto confirma que la estacionalidad anual es el factor más determinante para predecir</a:t>
            </a:r>
          </a:p>
          <a:p>
            <a:pPr>
              <a:defRPr sz="1200"/>
            </a:pPr>
            <a:r>
              <a:t>bien esta serie.</a:t>
            </a:r>
          </a:p>
          <a:p>
            <a:pPr>
              <a:defRPr sz="1200"/>
            </a:pPr>
            <a:r>
              <a:t>El orden final -SARIMA, Holt-Winters, Prophet y ARIMA- tiene una lectura clara: cuanto</a:t>
            </a:r>
          </a:p>
          <a:p>
            <a:pPr>
              <a:defRPr sz="1200"/>
            </a:pPr>
            <a:r>
              <a:t>mejor modela un método la estacionalidad, mejor predice. Entre las dos versiones de</a:t>
            </a:r>
          </a:p>
          <a:p>
            <a:pPr>
              <a:defRPr sz="1200"/>
            </a:pPr>
            <a:r>
              <a:t>Holt-Winters la diferencia fue mínima, algo que ya habíamos anticipado en la</a:t>
            </a:r>
          </a:p>
          <a:p>
            <a:pPr>
              <a:defRPr sz="1200"/>
            </a:pPr>
            <a:r>
              <a:t>descomposición. Y un punto importante: la fuerte caída de generación en 2022-2023 fue el</a:t>
            </a:r>
          </a:p>
          <a:p>
            <a:pPr>
              <a:defRPr sz="1200"/>
            </a:pPr>
            <a:r>
              <a:t>principal desafío para todos los modelos, porque ninguno podía "adivinar" ese cambio sin</a:t>
            </a:r>
          </a:p>
          <a:p>
            <a:pPr>
              <a:defRPr sz="1200"/>
            </a:pPr>
            <a:r>
              <a:t>información externa, como por ejemplo el nivel de actividad económica del país.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200"/>
            </a:pPr>
            <a:r>
              <a:t>Algunas reflexiones finales. Primero, vimos que el "piloto automático" de selección de</a:t>
            </a:r>
          </a:p>
          <a:p>
            <a:pPr>
              <a:defRPr sz="1200"/>
            </a:pPr>
            <a:r>
              <a:t>modelos no siempre acierta: la configuración elegida a mano predijo mejor en datos</a:t>
            </a:r>
          </a:p>
          <a:p>
            <a:pPr>
              <a:defRPr sz="1200"/>
            </a:pPr>
            <a:r>
              <a:t>reales que la elegida automáticamente por puntaje interno.</a:t>
            </a:r>
          </a:p>
          <a:p>
            <a:pPr>
              <a:defRPr sz="1200"/>
            </a:pPr>
            <a:r>
              <a:t>Segundo, el análisis de volatilidad con GARCH mostró que los períodos "movidos" tienden a</a:t>
            </a:r>
          </a:p>
          <a:p>
            <a:pPr>
              <a:defRPr sz="1200"/>
            </a:pPr>
            <a:r>
              <a:t>durar un tiempo, lo que en la práctica permite dar márgenes de error más realistas y no</a:t>
            </a:r>
          </a:p>
          <a:p>
            <a:pPr>
              <a:defRPr sz="1200"/>
            </a:pPr>
            <a:r>
              <a:t>un número fijo para todos los meses.</a:t>
            </a:r>
          </a:p>
          <a:p>
            <a:pPr>
              <a:defRPr sz="1200"/>
            </a:pPr>
            <a:r>
              <a:t>Tercero, no solo nos quedamos con que SARIMA tuvo el menor error: también confirmamos que</a:t>
            </a:r>
          </a:p>
          <a:p>
            <a:pPr>
              <a:defRPr sz="1200"/>
            </a:pPr>
            <a:r>
              <a:t>está bien especificado, sin patrones sin explicar en sus errores.</a:t>
            </a:r>
          </a:p>
          <a:p>
            <a:pPr>
              <a:defRPr sz="1200"/>
            </a:pPr>
            <a:r>
              <a:t>Y como aprendizaje general del trabajo: ningún indicador por sí solo es suficiente. Hay</a:t>
            </a:r>
          </a:p>
          <a:p>
            <a:pPr>
              <a:defRPr sz="1200"/>
            </a:pPr>
            <a:r>
              <a:t>que combinar el ajuste interno del modelo, el error prediciendo datos reales, y el</a:t>
            </a:r>
          </a:p>
          <a:p>
            <a:pPr>
              <a:defRPr sz="1200"/>
            </a:pPr>
            <a:r>
              <a:t>diagnóstico de los residuos para elegir un modelo con confianza. Con esto cerramos la</a:t>
            </a:r>
          </a:p>
          <a:p>
            <a:pPr>
              <a:defRPr sz="1200"/>
            </a:pPr>
            <a:r>
              <a:t>presentación, ¡gracias!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200"/>
            </a:pPr>
            <a:r>
              <a:t>Muchas gracias por la atención. Quedamos abiertos a preguntas sobre cualquiera de los</a:t>
            </a:r>
          </a:p>
          <a:p>
            <a:pPr>
              <a:defRPr sz="1200"/>
            </a:pPr>
            <a:r>
              <a:t>modelos, los resultados o las extensiones que presentamos.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377440" y="5120640"/>
            <a:ext cx="2377440" cy="2377440"/>
          </a:xfrm>
          <a:prstGeom prst="ellipse">
            <a:avLst/>
          </a:prstGeom>
          <a:solidFill>
            <a:srgbClr val="E8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502920"/>
            <a:ext cx="237744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-fiu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02" y="594360"/>
            <a:ext cx="2028276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0749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Especialización en</a:t>
            </a:r>
            <a:br/>
            <a:r>
              <a:t>Inteligencia Artificial</a:t>
            </a:r>
          </a:p>
          <a:p>
            <a:pPr>
              <a:spcBef>
                <a:spcPts val="600"/>
              </a:spcBef>
              <a:defRPr sz="1400">
                <a:solidFill>
                  <a:srgbClr val="CFD9EC"/>
                </a:solidFill>
              </a:defRPr>
            </a:pPr>
            <a:r>
              <a:t>Facultad de Ingeniería — UBA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9144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E86AB"/>
                </a:solidFill>
              </a:defRPr>
            </a:pPr>
            <a:r>
              <a:t>Análisis de Series de Tiempo Aplicado a la</a:t>
            </a:r>
          </a:p>
          <a:p>
            <a:pPr>
              <a:defRPr sz="4000" b="1">
                <a:solidFill>
                  <a:srgbClr val="1F3864"/>
                </a:solidFill>
              </a:defRPr>
            </a:pPr>
            <a:r>
              <a:t>Generación Eléctrica Mensual de Argentina</a:t>
            </a:r>
          </a:p>
          <a:p>
            <a:pPr>
              <a:spcBef>
                <a:spcPts val="600"/>
              </a:spcBef>
              <a:defRPr sz="2200" b="1">
                <a:solidFill>
                  <a:srgbClr val="E8A83C"/>
                </a:solidFill>
              </a:defRPr>
            </a:pPr>
            <a:r>
              <a:t>(2015 – 2023)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3977639"/>
            <a:ext cx="72237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rtlCol="0" anchor="ctr"/>
          <a:lstStyle/>
          <a:p>
            <a:pPr algn="ctr">
              <a:spcAft>
                <a:spcPts val="800"/>
              </a:spcAft>
              <a:defRPr sz="1700"/>
            </a:pPr>
            <a:r>
              <a:rPr b="1" dirty="0" err="1">
                <a:solidFill>
                  <a:srgbClr val="2E86AB"/>
                </a:solidFill>
              </a:rPr>
              <a:t>Curso</a:t>
            </a:r>
            <a:r>
              <a:rPr b="1" dirty="0">
                <a:solidFill>
                  <a:srgbClr val="2E86AB"/>
                </a:solidFill>
              </a:rPr>
              <a:t>:  </a:t>
            </a:r>
            <a:r>
              <a:rPr dirty="0" err="1">
                <a:solidFill>
                  <a:srgbClr val="333333"/>
                </a:solidFill>
              </a:rPr>
              <a:t>Análisis</a:t>
            </a:r>
            <a:r>
              <a:rPr dirty="0">
                <a:solidFill>
                  <a:srgbClr val="333333"/>
                </a:solidFill>
              </a:rPr>
              <a:t> de Series de Tiempo</a:t>
            </a:r>
            <a:r>
              <a:rPr lang="es-ES" dirty="0">
                <a:solidFill>
                  <a:srgbClr val="333333"/>
                </a:solidFill>
              </a:rPr>
              <a:t> I</a:t>
            </a:r>
            <a:r>
              <a:rPr dirty="0">
                <a:solidFill>
                  <a:srgbClr val="333333"/>
                </a:solidFill>
              </a:rPr>
              <a:t> (02MIA2026)</a:t>
            </a:r>
          </a:p>
          <a:p>
            <a:pPr>
              <a:spcAft>
                <a:spcPts val="800"/>
              </a:spcAft>
              <a:defRPr sz="1700"/>
            </a:pPr>
            <a:r>
              <a:rPr b="1" dirty="0" err="1">
                <a:solidFill>
                  <a:srgbClr val="2E86AB"/>
                </a:solidFill>
              </a:rPr>
              <a:t>Programa</a:t>
            </a:r>
            <a:r>
              <a:rPr b="1" dirty="0">
                <a:solidFill>
                  <a:srgbClr val="2E86AB"/>
                </a:solidFill>
              </a:rPr>
              <a:t>:  </a:t>
            </a:r>
            <a:r>
              <a:rPr dirty="0" err="1">
                <a:solidFill>
                  <a:srgbClr val="333333"/>
                </a:solidFill>
              </a:rPr>
              <a:t>Especialización</a:t>
            </a:r>
            <a:r>
              <a:rPr dirty="0">
                <a:solidFill>
                  <a:srgbClr val="333333"/>
                </a:solidFill>
              </a:rPr>
              <a:t> </a:t>
            </a:r>
            <a:r>
              <a:rPr dirty="0" err="1">
                <a:solidFill>
                  <a:srgbClr val="333333"/>
                </a:solidFill>
              </a:rPr>
              <a:t>en</a:t>
            </a:r>
            <a:r>
              <a:rPr dirty="0">
                <a:solidFill>
                  <a:srgbClr val="333333"/>
                </a:solidFill>
              </a:rPr>
              <a:t> </a:t>
            </a:r>
            <a:r>
              <a:rPr dirty="0" err="1">
                <a:solidFill>
                  <a:srgbClr val="333333"/>
                </a:solidFill>
              </a:rPr>
              <a:t>Inteligencia</a:t>
            </a:r>
            <a:r>
              <a:rPr dirty="0">
                <a:solidFill>
                  <a:srgbClr val="333333"/>
                </a:solidFill>
              </a:rPr>
              <a:t> Artificial — UBA, FIUBA</a:t>
            </a:r>
          </a:p>
          <a:p>
            <a:pPr>
              <a:spcAft>
                <a:spcPts val="800"/>
              </a:spcAft>
              <a:defRPr sz="1700"/>
            </a:pPr>
            <a:r>
              <a:rPr b="1" dirty="0" err="1">
                <a:solidFill>
                  <a:srgbClr val="2E86AB"/>
                </a:solidFill>
              </a:rPr>
              <a:t>Docente</a:t>
            </a:r>
            <a:r>
              <a:rPr b="1" dirty="0">
                <a:solidFill>
                  <a:srgbClr val="2E86AB"/>
                </a:solidFill>
              </a:rPr>
              <a:t>:  </a:t>
            </a:r>
            <a:r>
              <a:rPr dirty="0">
                <a:solidFill>
                  <a:srgbClr val="333333"/>
                </a:solidFill>
              </a:rPr>
              <a:t>Camilo </a:t>
            </a:r>
            <a:r>
              <a:rPr dirty="0" err="1">
                <a:solidFill>
                  <a:srgbClr val="333333"/>
                </a:solidFill>
              </a:rPr>
              <a:t>Argoty</a:t>
            </a:r>
            <a:endParaRPr dirty="0">
              <a:solidFill>
                <a:srgbClr val="333333"/>
              </a:solidFill>
            </a:endParaRPr>
          </a:p>
          <a:p>
            <a:pPr>
              <a:spcAft>
                <a:spcPts val="800"/>
              </a:spcAft>
              <a:defRPr sz="1700"/>
            </a:pPr>
            <a:r>
              <a:rPr b="1" dirty="0" err="1">
                <a:solidFill>
                  <a:srgbClr val="2E86AB"/>
                </a:solidFill>
              </a:rPr>
              <a:t>Alumnos</a:t>
            </a:r>
            <a:r>
              <a:rPr b="1" dirty="0">
                <a:solidFill>
                  <a:srgbClr val="2E86AB"/>
                </a:solidFill>
              </a:rPr>
              <a:t>:  </a:t>
            </a:r>
            <a:r>
              <a:rPr dirty="0">
                <a:solidFill>
                  <a:srgbClr val="333333"/>
                </a:solidFill>
              </a:rPr>
              <a:t>Gustavo Rivas · Carlos Rivas · Fermín Rodríguez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905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51560"/>
          </a:xfrm>
          <a:prstGeom prst="rect">
            <a:avLst/>
          </a:prstGeom>
          <a:solidFill>
            <a:srgbClr val="E8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86AB"/>
                </a:solidFill>
              </a:defRPr>
            </a:pPr>
            <a:r>
              <a:t>Trabajo Final</a:t>
            </a:r>
          </a:p>
          <a:p>
            <a:pPr>
              <a:defRPr sz="2800" b="1">
                <a:solidFill>
                  <a:srgbClr val="1F3864"/>
                </a:solidFill>
              </a:defRPr>
            </a:pPr>
            <a:r>
              <a:t>Agenda</a:t>
            </a:r>
          </a:p>
        </p:txBody>
      </p:sp>
      <p:pic>
        <p:nvPicPr>
          <p:cNvPr id="6" name="Picture 5" descr="logo-fiu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164592"/>
            <a:ext cx="1908967" cy="731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5544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•  1. De qué se trata el trabajo y qué queremos responder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•  2. Los datos: de dónde vienen y cómo son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•  3. Qué patrones encontramos (tendencia, estacionalidad)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•  4. Los modelos que probamos: ARIMA, SARIMA, Holt-Winters y Prophet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•  5. Cómo comparamos los modelos y cuál ganó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•  6. Validación: ¿el modelo ganador está bien armado?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•  7. Un extra: medir la volatilidad con GARCH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•  8. Pronóstico para 2024 y conclusiones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2700"/>
          </a:xfrm>
          <a:prstGeom prst="rect">
            <a:avLst/>
          </a:prstGeom>
          <a:solidFill>
            <a:srgbClr val="C9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10728655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Generación Eléctrica Mensual de Argentina (2015-2023)  ·  Análisis de Series de Tiempo — 02MIA2026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565392"/>
            <a:ext cx="685800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905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51560"/>
          </a:xfrm>
          <a:prstGeom prst="rect">
            <a:avLst/>
          </a:prstGeom>
          <a:solidFill>
            <a:srgbClr val="E8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86AB"/>
                </a:solidFill>
              </a:defRPr>
            </a:pPr>
            <a:r>
              <a:t>1. Pregunta de Investigación</a:t>
            </a:r>
          </a:p>
          <a:p>
            <a:pPr>
              <a:defRPr sz="2800" b="1">
                <a:solidFill>
                  <a:srgbClr val="1F3864"/>
                </a:solidFill>
              </a:defRPr>
            </a:pPr>
            <a:r>
              <a:t>¿Qué queremos responder?</a:t>
            </a:r>
          </a:p>
        </p:txBody>
      </p:sp>
      <p:pic>
        <p:nvPicPr>
          <p:cNvPr id="6" name="Picture 5" descr="logo-fiu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164592"/>
            <a:ext cx="1908967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25880"/>
            <a:ext cx="10698480" cy="1417320"/>
          </a:xfrm>
          <a:prstGeom prst="roundRect">
            <a:avLst/>
          </a:prstGeom>
          <a:solidFill>
            <a:srgbClr val="EAF1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>
              <a:defRPr sz="2000" i="1">
                <a:solidFill>
                  <a:srgbClr val="1F3864"/>
                </a:solidFill>
              </a:defRPr>
            </a:pPr>
            <a:r>
              <a:t>¿Qué modelo predice mejor la generación eléctrica mensual de Argentina: ARIMA, SARIMA, Holt-Winters o Prophet? ¿Y qué tan importante es la fuerte estacionalidad anual -con picos en verano e invierno- para el resultado?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AB"/>
                </a:solidFill>
              </a:defRPr>
            </a:pPr>
            <a:r>
              <a:t>En otras palabras, queremos lograr tres cosas: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Entender cómo se mueve la generación eléctrica: ¿tiene tendencia? ¿se repite un patrón cada año?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Probar cuatro modelos distintos y comparar qué tan bien predicen, apoyándonos en pruebas estadísticas formales para justificar cada decisión (no "a ojo").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Elegir el mejor modelo y usarlo para proyectar la generación eléctrica de 2024, con un rango de confianza.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12700"/>
          </a:xfrm>
          <a:prstGeom prst="rect">
            <a:avLst/>
          </a:prstGeom>
          <a:solidFill>
            <a:srgbClr val="C9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10728655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Generación Eléctrica Mensual de Argentina (2015-2023)  ·  Análisis de Series de Tiempo — 02MIA2026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565392"/>
            <a:ext cx="685800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905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51560"/>
          </a:xfrm>
          <a:prstGeom prst="rect">
            <a:avLst/>
          </a:prstGeom>
          <a:solidFill>
            <a:srgbClr val="E8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86AB"/>
                </a:solidFill>
              </a:defRPr>
            </a:pPr>
            <a:r>
              <a:t>1. Marco Teórico</a:t>
            </a:r>
          </a:p>
          <a:p>
            <a:pPr>
              <a:defRPr sz="2800" b="1">
                <a:solidFill>
                  <a:srgbClr val="1F3864"/>
                </a:solidFill>
              </a:defRPr>
            </a:pPr>
            <a:r>
              <a:t>Dos formas distintas de "mirar" una serie</a:t>
            </a:r>
          </a:p>
        </p:txBody>
      </p:sp>
      <p:pic>
        <p:nvPicPr>
          <p:cNvPr id="6" name="Picture 5" descr="logo-fiu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164592"/>
            <a:ext cx="1908967" cy="731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37160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Familia 1 — ARIMA / SARIMA:</a:t>
            </a:r>
          </a:p>
          <a:p>
            <a:pPr lvl="1">
              <a:spcAft>
                <a:spcPts val="800"/>
              </a:spcAft>
              <a:defRPr sz="1600">
                <a:solidFill>
                  <a:srgbClr val="595959"/>
                </a:solidFill>
              </a:defRPr>
            </a:pPr>
            <a:r>
              <a:t>‒  Necesitan que la serie sea "estable" (estacionaria): sin tendencias raras ni cambios de comportamiento en el tiempo</a:t>
            </a:r>
          </a:p>
          <a:p>
            <a:pPr lvl="1">
              <a:spcAft>
                <a:spcPts val="800"/>
              </a:spcAft>
              <a:defRPr sz="1600">
                <a:solidFill>
                  <a:srgbClr val="595959"/>
                </a:solidFill>
              </a:defRPr>
            </a:pPr>
            <a:r>
              <a:t>‒  Si no lo es, se la transforma (diferenciando) hasta que lo sea</a:t>
            </a:r>
          </a:p>
          <a:p>
            <a:pPr lvl="1">
              <a:spcAft>
                <a:spcPts val="800"/>
              </a:spcAft>
              <a:defRPr sz="1600">
                <a:solidFill>
                  <a:srgbClr val="595959"/>
                </a:solidFill>
              </a:defRPr>
            </a:pPr>
            <a:r>
              <a:t>‒  Aprenden la dependencia entre un mes y los anteriores</a:t>
            </a:r>
          </a:p>
          <a:p>
            <a:pPr>
              <a:spcAft>
                <a:spcPts val="400"/>
              </a:spcAft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Familia 2 — Holt-Winters / Prophet:</a:t>
            </a:r>
          </a:p>
          <a:p>
            <a:pPr lvl="1">
              <a:spcAft>
                <a:spcPts val="800"/>
              </a:spcAft>
              <a:defRPr sz="1600">
                <a:solidFill>
                  <a:srgbClr val="595959"/>
                </a:solidFill>
              </a:defRPr>
            </a:pPr>
            <a:r>
              <a:t>‒  No exigen esa estabilidad previa</a:t>
            </a:r>
          </a:p>
          <a:p>
            <a:pPr lvl="1">
              <a:spcAft>
                <a:spcPts val="800"/>
              </a:spcAft>
              <a:defRPr sz="1600">
                <a:solidFill>
                  <a:srgbClr val="595959"/>
                </a:solidFill>
              </a:defRPr>
            </a:pPr>
            <a:r>
              <a:t>‒  Separan directamente la serie en "nivel", "tendencia" y "estacionalidad", y los van actualizando mes a 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371600"/>
            <a:ext cx="4114800" cy="4297680"/>
          </a:xfrm>
          <a:prstGeom prst="roundRect">
            <a:avLst/>
          </a:prstGeom>
          <a:solidFill>
            <a:srgbClr val="FDF3E2"/>
          </a:solidFill>
          <a:ln>
            <a:solidFill>
              <a:srgbClr val="E8A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800" b="1">
                <a:solidFill>
                  <a:srgbClr val="1F3864"/>
                </a:solidFill>
              </a:defRPr>
            </a:pPr>
            <a:r>
              <a:t>Nuestra hipótesis</a:t>
            </a:r>
          </a:p>
          <a:p>
            <a:pPr>
              <a:spcBef>
                <a:spcPts val="1000"/>
              </a:spcBef>
              <a:defRPr sz="1600">
                <a:solidFill>
                  <a:srgbClr val="444444"/>
                </a:solidFill>
              </a:defRPr>
            </a:pPr>
            <a:r>
              <a:t>Como la generación eléctrica argentina tiene un patrón estacional muy marcado, esperamos que los modelos que lo capturan explícitamente (SARIMA, Holt-Winters, Prophet) le ganen por bastante a un modelo que no lo tiene en cuenta (ARIMA).</a:t>
            </a:r>
          </a:p>
          <a:p>
            <a:pPr>
              <a:spcBef>
                <a:spcPts val="1000"/>
              </a:spcBef>
              <a:defRPr sz="1600">
                <a:solidFill>
                  <a:srgbClr val="444444"/>
                </a:solidFill>
              </a:defRPr>
            </a:pPr>
            <a:r>
              <a:t>Además, notamos que algunos meses son más "volátiles" que otros, así que sumamos un modelo extra (GARCH) para medir esa variabilidad.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2700"/>
          </a:xfrm>
          <a:prstGeom prst="rect">
            <a:avLst/>
          </a:prstGeom>
          <a:solidFill>
            <a:srgbClr val="C9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10728655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Generación Eléctrica Mensual de Argentina (2015-2023)  ·  Análisis de Series de Tiempo — 02MIA2026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565392"/>
            <a:ext cx="685800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905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51560"/>
          </a:xfrm>
          <a:prstGeom prst="rect">
            <a:avLst/>
          </a:prstGeom>
          <a:solidFill>
            <a:srgbClr val="E8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86AB"/>
                </a:solidFill>
              </a:defRPr>
            </a:pPr>
            <a:r>
              <a:t>2. Descripción de los Datos</a:t>
            </a:r>
          </a:p>
          <a:p>
            <a:pPr>
              <a:defRPr sz="2800" b="1">
                <a:solidFill>
                  <a:srgbClr val="1F3864"/>
                </a:solidFill>
              </a:defRPr>
            </a:pPr>
            <a:r>
              <a:t>De dónde vienen nuestros datos</a:t>
            </a:r>
          </a:p>
        </p:txBody>
      </p:sp>
      <p:pic>
        <p:nvPicPr>
          <p:cNvPr id="6" name="Picture 5" descr="logo-fiu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164592"/>
            <a:ext cx="1908967" cy="731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37160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•  Dataset público de Kaggle: "Electricity Production Dataset" (autor: sazidthe1)</a:t>
            </a:r>
          </a:p>
          <a:p>
            <a:pPr lvl="1">
              <a:spcAft>
                <a:spcPts val="800"/>
              </a:spcAft>
              <a:defRPr sz="1700">
                <a:solidFill>
                  <a:srgbClr val="595959"/>
                </a:solidFill>
              </a:defRPr>
            </a:pPr>
            <a:r>
              <a:t>‒  Trae datos mensuales de generación eléctrica de 48 países, entre 2010 y 2023</a:t>
            </a:r>
          </a:p>
          <a:p>
            <a:pPr lvl="1">
              <a:spcAft>
                <a:spcPts val="800"/>
              </a:spcAft>
              <a:defRPr sz="1700">
                <a:solidFill>
                  <a:srgbClr val="595959"/>
                </a:solidFill>
              </a:defRPr>
            </a:pPr>
            <a:r>
              <a:t>‒  Nos quedamos solo con Argentina y con la generación neta total ("Net Electricity Production")</a:t>
            </a:r>
          </a:p>
          <a:p>
            <a:pPr lvl="1">
              <a:spcAft>
                <a:spcPts val="800"/>
              </a:spcAft>
              <a:defRPr sz="1700">
                <a:solidFill>
                  <a:srgbClr val="595959"/>
                </a:solidFill>
              </a:defRPr>
            </a:pPr>
            <a:r>
              <a:t>‒  Resultado: una serie de 108 meses, de enero 2015 a diciembre 2023</a:t>
            </a:r>
          </a:p>
          <a:p>
            <a:pPr>
              <a:spcAft>
                <a:spcPts val="400"/>
              </a:spcAft>
            </a:pPr>
            <a:endParaRPr/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•  Después de filtrar, la serie con la que trabajamos es muy simple: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645920" y="3886200"/>
          <a:ext cx="8869680" cy="1642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Columna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Qué significa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700">
                          <a:solidFill>
                            <a:srgbClr val="2B2B2B"/>
                          </a:solidFill>
                          <a:latin typeface="Calibri"/>
                        </a:rPr>
                        <a:t>Fecha (mes)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2B2B2B"/>
                          </a:solidFill>
                          <a:latin typeface="Calibri"/>
                        </a:rPr>
                        <a:t>Un dato por mes, de enero de 2015 a diciembre de 2023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700">
                          <a:solidFill>
                            <a:srgbClr val="2B2B2B"/>
                          </a:solidFill>
                          <a:latin typeface="Calibri"/>
                        </a:rPr>
                        <a:t>Generación (GWh)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2B2B2B"/>
                          </a:solidFill>
                          <a:latin typeface="Calibri"/>
                        </a:rPr>
                        <a:t>Cuánta electricidad se generó en Argentina ese mes, en gigavatios-hora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65392"/>
            <a:ext cx="12191695" cy="12700"/>
          </a:xfrm>
          <a:prstGeom prst="rect">
            <a:avLst/>
          </a:prstGeom>
          <a:solidFill>
            <a:srgbClr val="C9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10728655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Generación Eléctrica Mensual de Argentina (2015-2023)  ·  Análisis de Series de Tiempo — 02MIA2026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565392"/>
            <a:ext cx="685800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905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51560"/>
          </a:xfrm>
          <a:prstGeom prst="rect">
            <a:avLst/>
          </a:prstGeom>
          <a:solidFill>
            <a:srgbClr val="E8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86AB"/>
                </a:solidFill>
              </a:defRPr>
            </a:pPr>
            <a:r>
              <a:t>2.3 Calidad de los Datos</a:t>
            </a:r>
          </a:p>
          <a:p>
            <a:pPr>
              <a:defRPr sz="2800" b="1">
                <a:solidFill>
                  <a:srgbClr val="1F3864"/>
                </a:solidFill>
              </a:defRPr>
            </a:pPr>
            <a:r>
              <a:t>¿Los datos están "limpios"?</a:t>
            </a:r>
          </a:p>
        </p:txBody>
      </p:sp>
      <p:pic>
        <p:nvPicPr>
          <p:cNvPr id="6" name="Picture 5" descr="logo-fiu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164592"/>
            <a:ext cx="1908967" cy="731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37160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No hay valores faltantes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No falta ningún mes: la serie está completa y es continua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No detectamos valores atípicos (outliers)</a:t>
            </a:r>
          </a:p>
          <a:p>
            <a:pPr>
              <a:spcAft>
                <a:spcPts val="400"/>
              </a:spcAft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Conclusión: no hicieron falta correcciones, la serie está lista para analizarse tal cual.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371600"/>
          <a:ext cx="512064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Estadístico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Valor (GWh)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Cantidad de meses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Promedio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33.811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Desvío estándar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3.058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Mínimo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25.656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Percentil 25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31.450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Mediana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33.508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Percentil 75 / Máximo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35.881 / 40.883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i="1">
                <a:solidFill>
                  <a:srgbClr val="595959"/>
                </a:solidFill>
              </a:defRPr>
            </a:pPr>
            <a:r>
              <a:t>La variación entre meses representa solo ~9% del promedio: es decir, la serie no "salta" de forma errática, gran parte de ese movimiento se explica por la época del año (estacionalidad).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12700"/>
          </a:xfrm>
          <a:prstGeom prst="rect">
            <a:avLst/>
          </a:prstGeom>
          <a:solidFill>
            <a:srgbClr val="C9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10728655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Generación Eléctrica Mensual de Argentina (2015-2023)  ·  Análisis de Series de Tiempo — 02MIA2026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565392"/>
            <a:ext cx="685800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905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51560"/>
          </a:xfrm>
          <a:prstGeom prst="rect">
            <a:avLst/>
          </a:prstGeom>
          <a:solidFill>
            <a:srgbClr val="E8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86AB"/>
                </a:solidFill>
              </a:defRPr>
            </a:pPr>
            <a:r>
              <a:t>2.4 Primer Vistazo a los Datos</a:t>
            </a:r>
          </a:p>
          <a:p>
            <a:pPr>
              <a:defRPr sz="2800" b="1">
                <a:solidFill>
                  <a:srgbClr val="1F3864"/>
                </a:solidFill>
              </a:defRPr>
            </a:pPr>
            <a:r>
              <a:t>Así se ve la serie completa</a:t>
            </a:r>
          </a:p>
        </p:txBody>
      </p:sp>
      <p:pic>
        <p:nvPicPr>
          <p:cNvPr id="6" name="Picture 5" descr="logo-fiu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164592"/>
            <a:ext cx="1908967" cy="731520"/>
          </a:xfrm>
          <a:prstGeom prst="rect">
            <a:avLst/>
          </a:prstGeom>
        </p:spPr>
      </p:pic>
      <p:pic>
        <p:nvPicPr>
          <p:cNvPr id="7" name="Picture 6" descr="13_serie_orig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53890"/>
            <a:ext cx="7589520" cy="34930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146304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Nivel promedio: ~33.800 GWh por mes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No hay una tendencia clara de crecimiento o caída en los 9 años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Pero sí hay una baja marcada en los últimos años: -11,6% en 2022 y -19,3% en 2023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Se repite todos los años el mismo patrón: sube en verano e invierno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Se ven caídas puntuales en momentos puntuales (ej. pandemia 2020)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2700"/>
          </a:xfrm>
          <a:prstGeom prst="rect">
            <a:avLst/>
          </a:prstGeom>
          <a:solidFill>
            <a:srgbClr val="C9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10728655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Generación Eléctrica Mensual de Argentina (2015-2023)  ·  Análisis de Series de Tiempo — 02MIA2026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565392"/>
            <a:ext cx="685800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905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51560"/>
          </a:xfrm>
          <a:prstGeom prst="rect">
            <a:avLst/>
          </a:prstGeom>
          <a:solidFill>
            <a:srgbClr val="E8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86AB"/>
                </a:solidFill>
              </a:defRPr>
            </a:pPr>
            <a:r>
              <a:t>2.5 Tasas de Crecimiento</a:t>
            </a:r>
          </a:p>
          <a:p>
            <a:pPr>
              <a:defRPr sz="2800" b="1">
                <a:solidFill>
                  <a:srgbClr val="1F3864"/>
                </a:solidFill>
              </a:defRPr>
            </a:pPr>
            <a:r>
              <a:t>¿Cuánto creció (o cayó) cada año?</a:t>
            </a:r>
          </a:p>
        </p:txBody>
      </p:sp>
      <p:pic>
        <p:nvPicPr>
          <p:cNvPr id="6" name="Picture 5" descr="logo-fiu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164592"/>
            <a:ext cx="1908967" cy="731520"/>
          </a:xfrm>
          <a:prstGeom prst="rect">
            <a:avLst/>
          </a:prstGeom>
        </p:spPr>
      </p:pic>
      <p:pic>
        <p:nvPicPr>
          <p:cNvPr id="7" name="Picture 6" descr="16_tasas_crecimien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533" y="1234440"/>
            <a:ext cx="6205653" cy="41148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63840" y="1234440"/>
          <a:ext cx="3749040" cy="3867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Año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Variación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2015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+0,07 %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-2,93 %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2017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-5,38 %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2018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-14,06 %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2019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+0,87 %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2020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+2,10 %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-0,46 %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T="36576" marB="36576" anchor="ctr">
                    <a:solidFill>
                      <a:srgbClr val="FCE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-11,64 %</a:t>
                      </a:r>
                    </a:p>
                  </a:txBody>
                  <a:tcPr marT="36576" marB="36576" anchor="ctr">
                    <a:solidFill>
                      <a:srgbClr val="FCE4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marT="36576" marB="36576" anchor="ctr">
                    <a:solidFill>
                      <a:srgbClr val="FCE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-19,26 %</a:t>
                      </a:r>
                    </a:p>
                  </a:txBody>
                  <a:tcPr marT="36576" marB="36576" anchor="ctr">
                    <a:solidFill>
                      <a:srgbClr val="FCE4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65392"/>
            <a:ext cx="12191695" cy="12700"/>
          </a:xfrm>
          <a:prstGeom prst="rect">
            <a:avLst/>
          </a:prstGeom>
          <a:solidFill>
            <a:srgbClr val="C9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10728655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Generación Eléctrica Mensual de Argentina (2015-2023)  ·  Análisis de Series de Tiempo — 02MIA2026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565392"/>
            <a:ext cx="685800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905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51560"/>
          </a:xfrm>
          <a:prstGeom prst="rect">
            <a:avLst/>
          </a:prstGeom>
          <a:solidFill>
            <a:srgbClr val="E8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86AB"/>
                </a:solidFill>
              </a:defRPr>
            </a:pPr>
            <a:r>
              <a:t>3.1 Tendencia, Estacionalidad y Residuo</a:t>
            </a:r>
          </a:p>
          <a:p>
            <a:pPr>
              <a:defRPr sz="2800" b="1">
                <a:solidFill>
                  <a:srgbClr val="1F3864"/>
                </a:solidFill>
              </a:defRPr>
            </a:pPr>
            <a:r>
              <a:t>Separando la serie en sus "piezas"</a:t>
            </a:r>
          </a:p>
        </p:txBody>
      </p:sp>
      <p:pic>
        <p:nvPicPr>
          <p:cNvPr id="6" name="Picture 5" descr="logo-fiu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164592"/>
            <a:ext cx="1908967" cy="731520"/>
          </a:xfrm>
          <a:prstGeom prst="rect">
            <a:avLst/>
          </a:prstGeom>
        </p:spPr>
      </p:pic>
      <p:pic>
        <p:nvPicPr>
          <p:cNvPr id="7" name="Picture 6" descr="19_descomposicion_aditiv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699" y="1188720"/>
            <a:ext cx="5157401" cy="4114800"/>
          </a:xfrm>
          <a:prstGeom prst="rect">
            <a:avLst/>
          </a:prstGeom>
        </p:spPr>
      </p:pic>
      <p:pic>
        <p:nvPicPr>
          <p:cNvPr id="8" name="Picture 7" descr="21_descomposicion_multiplicativ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419" y="1188720"/>
            <a:ext cx="5157401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4406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95959"/>
                </a:solidFill>
              </a:defRPr>
            </a:pPr>
            <a:r>
              <a:t>Toda serie se puede pensar como Tendencia + Estacionalidad + Residuo (esquema "aditivo", izquierda) o como Tendencia × Estacionalidad × Residuo ("multiplicativo", derecha).</a:t>
            </a:r>
          </a:p>
          <a:p>
            <a:pPr>
              <a:defRPr sz="1600" i="1">
                <a:solidFill>
                  <a:srgbClr val="595959"/>
                </a:solidFill>
              </a:defRPr>
            </a:pPr>
            <a:r>
              <a:t>En nuestro caso, ambos esquemas dejan un residuo muy parecido (~1.550 GWh), así que probamos las dos variantes más adelante con Holt-Winters.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12700"/>
          </a:xfrm>
          <a:prstGeom prst="rect">
            <a:avLst/>
          </a:prstGeom>
          <a:solidFill>
            <a:srgbClr val="C9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10728655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Generación Eléctrica Mensual de Argentina (2015-2023)  ·  Análisis de Series de Tiempo — 02MIA2026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565392"/>
            <a:ext cx="685800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905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51560"/>
          </a:xfrm>
          <a:prstGeom prst="rect">
            <a:avLst/>
          </a:prstGeom>
          <a:solidFill>
            <a:srgbClr val="E8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86AB"/>
                </a:solidFill>
              </a:defRPr>
            </a:pPr>
            <a:r>
              <a:t>3.1 Estacionalidad y Tendencia</a:t>
            </a:r>
          </a:p>
          <a:p>
            <a:pPr>
              <a:defRPr sz="2800" b="1">
                <a:solidFill>
                  <a:srgbClr val="1F3864"/>
                </a:solidFill>
              </a:defRPr>
            </a:pPr>
            <a:r>
              <a:t>El patrón que se repite cada año</a:t>
            </a:r>
          </a:p>
        </p:txBody>
      </p:sp>
      <p:pic>
        <p:nvPicPr>
          <p:cNvPr id="6" name="Picture 5" descr="logo-fiu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164592"/>
            <a:ext cx="1908967" cy="731520"/>
          </a:xfrm>
          <a:prstGeom prst="rect">
            <a:avLst/>
          </a:prstGeom>
        </p:spPr>
      </p:pic>
      <p:pic>
        <p:nvPicPr>
          <p:cNvPr id="7" name="Picture 6" descr="22_patron_estacio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368458"/>
            <a:ext cx="5669280" cy="3755324"/>
          </a:xfrm>
          <a:prstGeom prst="rect">
            <a:avLst/>
          </a:prstGeom>
        </p:spPr>
      </p:pic>
      <p:pic>
        <p:nvPicPr>
          <p:cNvPr id="8" name="Picture 7" descr="24_medias_movil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419" y="1188720"/>
            <a:ext cx="5157401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4406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95959"/>
                </a:solidFill>
              </a:defRPr>
            </a:pPr>
            <a:r>
              <a:t>Izquierda: el promedio de generación por mes muestra dos picos -verano (enero/febrero, por el aire acondicionado) e invierno (junio/julio, por calefacción)- con valles en las épocas de transición.</a:t>
            </a:r>
          </a:p>
          <a:p>
            <a:pPr>
              <a:defRPr sz="1600" i="1">
                <a:solidFill>
                  <a:srgbClr val="595959"/>
                </a:solidFill>
              </a:defRPr>
            </a:pPr>
            <a:r>
              <a:t>Derecha: suavizando la serie con un promedio móvil de 12 meses, se ve un nivel estable entre 2015 y 2021, y la caída sostenida de 2022-2023.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12700"/>
          </a:xfrm>
          <a:prstGeom prst="rect">
            <a:avLst/>
          </a:prstGeom>
          <a:solidFill>
            <a:srgbClr val="C9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10728655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Generación Eléctrica Mensual de Argentina (2015-2023)  ·  Análisis de Series de Tiempo — 02MIA2026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565392"/>
            <a:ext cx="685800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905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51560"/>
          </a:xfrm>
          <a:prstGeom prst="rect">
            <a:avLst/>
          </a:prstGeom>
          <a:solidFill>
            <a:srgbClr val="E8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86AB"/>
                </a:solidFill>
              </a:defRPr>
            </a:pPr>
            <a:r>
              <a:t>3.1 Diagnóstico de los Residuos</a:t>
            </a:r>
          </a:p>
          <a:p>
            <a:pPr>
              <a:defRPr sz="2800" b="1">
                <a:solidFill>
                  <a:srgbClr val="1F3864"/>
                </a:solidFill>
              </a:defRPr>
            </a:pPr>
            <a:r>
              <a:t>¿Quedó algo sin explicar?</a:t>
            </a:r>
          </a:p>
        </p:txBody>
      </p:sp>
      <p:pic>
        <p:nvPicPr>
          <p:cNvPr id="6" name="Picture 5" descr="logo-fiu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164592"/>
            <a:ext cx="1908967" cy="731520"/>
          </a:xfrm>
          <a:prstGeom prst="rect">
            <a:avLst/>
          </a:prstGeom>
        </p:spPr>
      </p:pic>
      <p:pic>
        <p:nvPicPr>
          <p:cNvPr id="7" name="Picture 6" descr="26_residuos_descomposic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75" y="1188720"/>
            <a:ext cx="6350010" cy="4206240"/>
          </a:xfrm>
          <a:prstGeom prst="rect">
            <a:avLst/>
          </a:prstGeom>
        </p:spPr>
      </p:pic>
      <p:pic>
        <p:nvPicPr>
          <p:cNvPr id="8" name="Picture 7" descr="28_acf_residuos_descomposic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973" y="1463040"/>
            <a:ext cx="4077891" cy="219456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79" y="3886200"/>
          <a:ext cx="42976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Chequeo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Resultado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p-valor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B2B2B"/>
                          </a:solidFill>
                          <a:latin typeface="Calibri"/>
                        </a:rPr>
                        <a:t>¿Son normales?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B2B2B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B2B2B"/>
                          </a:solidFill>
                          <a:latin typeface="Calibri"/>
                        </a:rPr>
                        <a:t>0,184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B2B2B"/>
                          </a:solidFill>
                          <a:latin typeface="Calibri"/>
                        </a:rPr>
                        <a:t>¿Son estables?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B2B2B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B2B2B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498079" y="553212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595959"/>
                </a:solidFill>
              </a:defRPr>
            </a:pPr>
            <a:r>
              <a:t>Lo que sobra después de sacar tendencia y estacionalidad se comporta como "ruido": no tiene patrones escondidos. Buena señal.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12700"/>
          </a:xfrm>
          <a:prstGeom prst="rect">
            <a:avLst/>
          </a:prstGeom>
          <a:solidFill>
            <a:srgbClr val="C9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10728655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Generación Eléctrica Mensual de Argentina (2015-2023)  ·  Análisis de Series de Tiempo — 02MIA2026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565392"/>
            <a:ext cx="685800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905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51560"/>
          </a:xfrm>
          <a:prstGeom prst="rect">
            <a:avLst/>
          </a:prstGeom>
          <a:solidFill>
            <a:srgbClr val="E8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86AB"/>
                </a:solidFill>
              </a:defRPr>
            </a:pPr>
            <a:r>
              <a:t>3.2 Pruebas de Estacionariedad</a:t>
            </a:r>
          </a:p>
          <a:p>
            <a:pPr>
              <a:defRPr sz="2800" b="1">
                <a:solidFill>
                  <a:srgbClr val="1F3864"/>
                </a:solidFill>
              </a:defRPr>
            </a:pPr>
            <a:r>
              <a:t>¿La serie es "estable"? (ADF y KPSS)</a:t>
            </a:r>
          </a:p>
        </p:txBody>
      </p:sp>
      <p:pic>
        <p:nvPicPr>
          <p:cNvPr id="6" name="Picture 5" descr="logo-fiu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164592"/>
            <a:ext cx="1908967" cy="731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2344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Para usar ARIMA/SARIMA, la serie tiene que ser "estable" en el tiempo (estacionaria)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Usamos dos pruebas que se complementan: si las dos coinciden, la conclusión es más confiable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46888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Versión de la serie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Prueba 1 (ADF)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Prueba 2 (KPSS)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¿Es estable?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Serie original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No pasa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Pasa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No del todo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Con 1 diferencia simple (d=1)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Pasa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Pasa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Con 1 diferencia estacional (D=1)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No pasa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Pasa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No del todo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B2B2B"/>
                          </a:solidFill>
                          <a:latin typeface="Calibri"/>
                        </a:rPr>
                        <a:t>Con ambas diferencias (d=1 y D=1)</a:t>
                      </a:r>
                    </a:p>
                  </a:txBody>
                  <a:tcPr marT="36576" marB="36576" anchor="ctr">
                    <a:solidFill>
                      <a:srgbClr val="D6EA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B2B2B"/>
                          </a:solidFill>
                          <a:latin typeface="Calibri"/>
                        </a:rPr>
                        <a:t>Pasa</a:t>
                      </a:r>
                    </a:p>
                  </a:txBody>
                  <a:tcPr marT="36576" marB="36576" anchor="ctr">
                    <a:solidFill>
                      <a:srgbClr val="D6EA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B2B2B"/>
                          </a:solidFill>
                          <a:latin typeface="Calibri"/>
                        </a:rPr>
                        <a:t>Pasa</a:t>
                      </a:r>
                    </a:p>
                  </a:txBody>
                  <a:tcPr marT="36576" marB="36576" anchor="ctr">
                    <a:solidFill>
                      <a:srgbClr val="D6EA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T="36576" marB="36576" anchor="ctr">
                    <a:solidFill>
                      <a:srgbClr val="D6EA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B2B2B"/>
                          </a:solidFill>
                          <a:latin typeface="Calibri"/>
                        </a:rPr>
                        <a:t>Sí, la mejor opción</a:t>
                      </a:r>
                    </a:p>
                  </a:txBody>
                  <a:tcPr marT="36576" marB="36576" anchor="ctr">
                    <a:solidFill>
                      <a:srgbClr val="D6E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1206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F3864"/>
                </a:solidFill>
              </a:defRPr>
            </a:pPr>
            <a:r>
              <a:t>Conclusión: hace falta aplicar las dos diferenciaciones -una simple y una estacional- para que la serie quede "estable". Por eso el SARIMA que construimos usa d=1 y D=1.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12700"/>
          </a:xfrm>
          <a:prstGeom prst="rect">
            <a:avLst/>
          </a:prstGeom>
          <a:solidFill>
            <a:srgbClr val="C9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10728655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Generación Eléctrica Mensual de Argentina (2015-2023)  ·  Análisis de Series de Tiempo — 02MIA2026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565392"/>
            <a:ext cx="685800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905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51560"/>
          </a:xfrm>
          <a:prstGeom prst="rect">
            <a:avLst/>
          </a:prstGeom>
          <a:solidFill>
            <a:srgbClr val="E8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86AB"/>
                </a:solidFill>
              </a:defRPr>
            </a:pPr>
            <a:r>
              <a:t>3.3 Resumen de Modelos</a:t>
            </a:r>
          </a:p>
          <a:p>
            <a:pPr>
              <a:defRPr sz="2800" b="1">
                <a:solidFill>
                  <a:srgbClr val="1F3864"/>
                </a:solidFill>
              </a:defRPr>
            </a:pPr>
            <a:r>
              <a:t>Los 4 modelos que vamos a comparar</a:t>
            </a:r>
          </a:p>
        </p:txBody>
      </p:sp>
      <p:pic>
        <p:nvPicPr>
          <p:cNvPr id="6" name="Picture 5" descr="logo-fiu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164592"/>
            <a:ext cx="1908967" cy="73152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698480" cy="3304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¿Qué lo distingue?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¿Tiene en cuenta la estacionalidad?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ARIMA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El más simple: solo mira los valores recientes. Nuestro "punto de partida"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SARIMA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Como ARIMA, pero agrega el ciclo de 12 meses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Holt-Winters (aditivo)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Suaviza nivel, tendencia y estacionalidad como cantidades fijas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Holt-Winters (multiplicativo)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Igual, pero la estacionalidad es un % del nivel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Prophet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Modelo de Meta/Facebook, ajusta tendencia y estacionalidad automáticamente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Sí (anual)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9377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95959"/>
                </a:solidFill>
              </a:defRPr>
            </a:pPr>
            <a:r>
              <a:t>Para que la comparación sea justa: entrenamos todos los modelos con los datos de 2015-2022, y los evaluamos prediciendo 2023 (12 meses que ningún modelo vio antes).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2700"/>
          </a:xfrm>
          <a:prstGeom prst="rect">
            <a:avLst/>
          </a:prstGeom>
          <a:solidFill>
            <a:srgbClr val="C9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10728655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Generación Eléctrica Mensual de Argentina (2015-2023)  ·  Análisis de Series de Tiempo — 02MIA2026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565392"/>
            <a:ext cx="685800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905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51560"/>
          </a:xfrm>
          <a:prstGeom prst="rect">
            <a:avLst/>
          </a:prstGeom>
          <a:solidFill>
            <a:srgbClr val="E8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86AB"/>
                </a:solidFill>
              </a:defRPr>
            </a:pPr>
            <a:r>
              <a:t>3.3 Descripción de Modelos</a:t>
            </a:r>
          </a:p>
          <a:p>
            <a:pPr>
              <a:defRPr sz="2800" b="1">
                <a:solidFill>
                  <a:srgbClr val="1F3864"/>
                </a:solidFill>
              </a:defRPr>
            </a:pPr>
            <a:r>
              <a:t>Modelo 1: ARIMA — el punto de partida</a:t>
            </a:r>
          </a:p>
        </p:txBody>
      </p:sp>
      <p:pic>
        <p:nvPicPr>
          <p:cNvPr id="6" name="Picture 5" descr="logo-fiu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164592"/>
            <a:ext cx="1908967" cy="731520"/>
          </a:xfrm>
          <a:prstGeom prst="rect">
            <a:avLst/>
          </a:prstGeom>
        </p:spPr>
      </p:pic>
      <p:pic>
        <p:nvPicPr>
          <p:cNvPr id="7" name="Picture 6" descr="37_forecast_ari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429173"/>
            <a:ext cx="6949440" cy="37253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1463040"/>
            <a:ext cx="4297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Mira solo el mes anterior y los errores recientes para predecir el siguiente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No sabe nada de "verano" o "invierno": no tiene componente estacional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Por eso esperamos que sea el que peor prediga frente a un patrón tan estacional</a:t>
            </a:r>
          </a:p>
          <a:p>
            <a:pPr>
              <a:spcAft>
                <a:spcPts val="400"/>
              </a:spcAft>
            </a:pPr>
            <a:endParaRPr/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Sirve como "piso": si otro modelo no le gana a este, no vale la pena usarlo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2700"/>
          </a:xfrm>
          <a:prstGeom prst="rect">
            <a:avLst/>
          </a:prstGeom>
          <a:solidFill>
            <a:srgbClr val="C9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10728655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Generación Eléctrica Mensual de Argentina (2015-2023)  ·  Análisis de Series de Tiempo — 02MIA2026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565392"/>
            <a:ext cx="685800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905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51560"/>
          </a:xfrm>
          <a:prstGeom prst="rect">
            <a:avLst/>
          </a:prstGeom>
          <a:solidFill>
            <a:srgbClr val="E8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86AB"/>
                </a:solidFill>
              </a:defRPr>
            </a:pPr>
            <a:r>
              <a:t>3.3 Descripción de Modelos</a:t>
            </a:r>
          </a:p>
          <a:p>
            <a:pPr>
              <a:defRPr sz="2800" b="1">
                <a:solidFill>
                  <a:srgbClr val="1F3864"/>
                </a:solidFill>
              </a:defRPr>
            </a:pPr>
            <a:r>
              <a:t>Modelo 2: SARIMA — ARIMA + estacionalidad</a:t>
            </a:r>
          </a:p>
        </p:txBody>
      </p:sp>
      <p:pic>
        <p:nvPicPr>
          <p:cNvPr id="6" name="Picture 5" descr="logo-fiu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164592"/>
            <a:ext cx="1908967" cy="731520"/>
          </a:xfrm>
          <a:prstGeom prst="rect">
            <a:avLst/>
          </a:prstGeom>
        </p:spPr>
      </p:pic>
      <p:pic>
        <p:nvPicPr>
          <p:cNvPr id="7" name="Picture 6" descr="39_forecast_sari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429173"/>
            <a:ext cx="6949440" cy="37253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1463040"/>
            <a:ext cx="4297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Es ARIMA, pero además compara cada mes con el mismo mes del año anterior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Las dos diferenciaciones (d=1 y D=1) que vimos antes están incorporadas acá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Es el modelo "candidato natural" para una serie tan estacional como la nuestra</a:t>
            </a:r>
          </a:p>
          <a:p>
            <a:pPr>
              <a:spcAft>
                <a:spcPts val="400"/>
              </a:spcAft>
            </a:pPr>
            <a:endParaRPr/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Esperamos que sea de los mejores, ya que ataca directamente el patrón anual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2700"/>
          </a:xfrm>
          <a:prstGeom prst="rect">
            <a:avLst/>
          </a:prstGeom>
          <a:solidFill>
            <a:srgbClr val="C9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10728655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Generación Eléctrica Mensual de Argentina (2015-2023)  ·  Análisis de Series de Tiempo — 02MIA2026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565392"/>
            <a:ext cx="685800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905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51560"/>
          </a:xfrm>
          <a:prstGeom prst="rect">
            <a:avLst/>
          </a:prstGeom>
          <a:solidFill>
            <a:srgbClr val="E8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86AB"/>
                </a:solidFill>
              </a:defRPr>
            </a:pPr>
            <a:r>
              <a:t>3.3 Descripción de Modelos</a:t>
            </a:r>
          </a:p>
          <a:p>
            <a:pPr>
              <a:defRPr sz="2800" b="1">
                <a:solidFill>
                  <a:srgbClr val="1F3864"/>
                </a:solidFill>
              </a:defRPr>
            </a:pPr>
            <a:r>
              <a:t>Modelo 3: Holt-Winters — suavizado inteligente</a:t>
            </a:r>
          </a:p>
        </p:txBody>
      </p:sp>
      <p:pic>
        <p:nvPicPr>
          <p:cNvPr id="6" name="Picture 5" descr="logo-fiu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164592"/>
            <a:ext cx="1908967" cy="731520"/>
          </a:xfrm>
          <a:prstGeom prst="rect">
            <a:avLst/>
          </a:prstGeom>
        </p:spPr>
      </p:pic>
      <p:pic>
        <p:nvPicPr>
          <p:cNvPr id="7" name="Picture 6" descr="41_forecast_hw_aditiv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315096"/>
            <a:ext cx="5669280" cy="3039087"/>
          </a:xfrm>
          <a:prstGeom prst="rect">
            <a:avLst/>
          </a:prstGeom>
        </p:spPr>
      </p:pic>
      <p:pic>
        <p:nvPicPr>
          <p:cNvPr id="8" name="Picture 7" descr="43_forecast_hw_multiplicativ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315096"/>
            <a:ext cx="5669280" cy="3039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6177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Separa la serie en 3 "piezas" -nivel, tendencia y estacionalidad- y las va actualizando mes a mes a medida que llegan nuevos datos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Versión aditiva (izquierda): la estacionalidad suma/resta siempre la misma cantidad de GWh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Versión multiplicativa (derecha): la estacionalidad es un porcentaje del nivel actual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12700"/>
          </a:xfrm>
          <a:prstGeom prst="rect">
            <a:avLst/>
          </a:prstGeom>
          <a:solidFill>
            <a:srgbClr val="C9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10728655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Generación Eléctrica Mensual de Argentina (2015-2023)  ·  Análisis de Series de Tiempo — 02MIA2026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565392"/>
            <a:ext cx="685800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905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51560"/>
          </a:xfrm>
          <a:prstGeom prst="rect">
            <a:avLst/>
          </a:prstGeom>
          <a:solidFill>
            <a:srgbClr val="E8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86AB"/>
                </a:solidFill>
              </a:defRPr>
            </a:pPr>
            <a:r>
              <a:t>3.3 Descripción de Modelos</a:t>
            </a:r>
          </a:p>
          <a:p>
            <a:pPr>
              <a:defRPr sz="2800" b="1">
                <a:solidFill>
                  <a:srgbClr val="1F3864"/>
                </a:solidFill>
              </a:defRPr>
            </a:pPr>
            <a:r>
              <a:t>Modelo 4: Prophet — el de Meta/Facebook</a:t>
            </a:r>
          </a:p>
        </p:txBody>
      </p:sp>
      <p:pic>
        <p:nvPicPr>
          <p:cNvPr id="6" name="Picture 5" descr="logo-fiu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164592"/>
            <a:ext cx="1908967" cy="731520"/>
          </a:xfrm>
          <a:prstGeom prst="rect">
            <a:avLst/>
          </a:prstGeom>
        </p:spPr>
      </p:pic>
      <p:pic>
        <p:nvPicPr>
          <p:cNvPr id="7" name="Picture 6" descr="45_forecast_proph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429173"/>
            <a:ext cx="6949440" cy="37253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1280160"/>
            <a:ext cx="4297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Divide la serie en tendencia + estacionalidad, igual que los anteriores, pero ajusta todo automáticamente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Usa una técnica matemática (series de Fourier) para representar la estacionalidad anual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No necesitamos elegir tantos parámetros a mano ni verificar estacionariedad</a:t>
            </a:r>
          </a:p>
          <a:p>
            <a:pPr>
              <a:spcAft>
                <a:spcPts val="400"/>
              </a:spcAft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Lo incluimos como cuarto modelo para tener un punto de comparación "moderno" y de uso muy extendido en la industria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12700"/>
          </a:xfrm>
          <a:prstGeom prst="rect">
            <a:avLst/>
          </a:prstGeom>
          <a:solidFill>
            <a:srgbClr val="C9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10728655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Generación Eléctrica Mensual de Argentina (2015-2023)  ·  Análisis de Series de Tiempo — 02MIA2026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565392"/>
            <a:ext cx="685800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905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51560"/>
          </a:xfrm>
          <a:prstGeom prst="rect">
            <a:avLst/>
          </a:prstGeom>
          <a:solidFill>
            <a:srgbClr val="E8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86AB"/>
                </a:solidFill>
              </a:defRPr>
            </a:pPr>
            <a:r>
              <a:t>4.1 Comparación de Modelos (2023)</a:t>
            </a:r>
          </a:p>
          <a:p>
            <a:pPr>
              <a:defRPr sz="2800" b="1">
                <a:solidFill>
                  <a:srgbClr val="1F3864"/>
                </a:solidFill>
              </a:defRPr>
            </a:pPr>
            <a:r>
              <a:t>¡El momento de la verdad! ¿Quién ganó?</a:t>
            </a:r>
          </a:p>
        </p:txBody>
      </p:sp>
      <p:pic>
        <p:nvPicPr>
          <p:cNvPr id="6" name="Picture 5" descr="logo-fiu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164592"/>
            <a:ext cx="1908967" cy="731520"/>
          </a:xfrm>
          <a:prstGeom prst="rect">
            <a:avLst/>
          </a:prstGeom>
        </p:spPr>
      </p:pic>
      <p:pic>
        <p:nvPicPr>
          <p:cNvPr id="7" name="Picture 6" descr="47_comparacion_model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743533"/>
            <a:ext cx="6217920" cy="309661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766560" y="1371600"/>
          <a:ext cx="5029200" cy="2877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Error promedio (MAPE)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B2B2B"/>
                          </a:solidFill>
                          <a:latin typeface="Calibri"/>
                        </a:rPr>
                        <a:t>SARIMA</a:t>
                      </a:r>
                    </a:p>
                  </a:txBody>
                  <a:tcPr marT="36576" marB="36576" anchor="ctr">
                    <a:solidFill>
                      <a:srgbClr val="D6EA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B2B2B"/>
                          </a:solidFill>
                          <a:latin typeface="Calibri"/>
                        </a:rPr>
                        <a:t>8,15 %</a:t>
                      </a:r>
                    </a:p>
                  </a:txBody>
                  <a:tcPr marT="36576" marB="36576" anchor="ctr">
                    <a:solidFill>
                      <a:srgbClr val="D6E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Holt-Winters (multiplicativo)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9,02 %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Holt-Winters (aditivo)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9,32 %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Prophet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11,61 %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ARIMA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Calibri"/>
                        </a:rPr>
                        <a:t>13,01 %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66560" y="44348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95959"/>
                </a:solidFill>
              </a:defRPr>
            </a:pPr>
            <a:r>
              <a:t>El MAPE es el error promedio en porcentaje: "en promedio, el modelo se equivoca un X% del valor real". Cuanto más bajo, mejor.</a:t>
            </a:r>
          </a:p>
          <a:p>
            <a:pPr>
              <a:defRPr sz="1600" b="1">
                <a:solidFill>
                  <a:srgbClr val="1F3864"/>
                </a:solidFill>
              </a:defRPr>
            </a:pPr>
            <a:r>
              <a:t>Ganó SARIMA con 8,15% de error. La diferencia con ARIMA (13,01%) muestra cuánto aporta modelar la estacionalidad.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12700"/>
          </a:xfrm>
          <a:prstGeom prst="rect">
            <a:avLst/>
          </a:prstGeom>
          <a:solidFill>
            <a:srgbClr val="C9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10728655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Generación Eléctrica Mensual de Argentina (2015-2023)  ·  Análisis de Series de Tiempo — 02MIA2026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565392"/>
            <a:ext cx="685800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905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51560"/>
          </a:xfrm>
          <a:prstGeom prst="rect">
            <a:avLst/>
          </a:prstGeom>
          <a:solidFill>
            <a:srgbClr val="E8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86AB"/>
                </a:solidFill>
              </a:defRPr>
            </a:pPr>
            <a:r>
              <a:t>4.2 SARIMA vs. la Realidad</a:t>
            </a:r>
          </a:p>
          <a:p>
            <a:pPr>
              <a:defRPr sz="2800" b="1">
                <a:solidFill>
                  <a:srgbClr val="1F3864"/>
                </a:solidFill>
              </a:defRPr>
            </a:pPr>
            <a:r>
              <a:t>Mirando de cerca al ganador: SARIMA</a:t>
            </a:r>
          </a:p>
        </p:txBody>
      </p:sp>
      <p:pic>
        <p:nvPicPr>
          <p:cNvPr id="6" name="Picture 5" descr="logo-fiu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164592"/>
            <a:ext cx="1908967" cy="731520"/>
          </a:xfrm>
          <a:prstGeom prst="rect">
            <a:avLst/>
          </a:prstGeom>
        </p:spPr>
      </p:pic>
      <p:pic>
        <p:nvPicPr>
          <p:cNvPr id="7" name="Picture 6" descr="51_sarima_vs_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026611"/>
            <a:ext cx="5669280" cy="2621898"/>
          </a:xfrm>
          <a:prstGeom prst="rect">
            <a:avLst/>
          </a:prstGeom>
        </p:spPr>
      </p:pic>
      <p:pic>
        <p:nvPicPr>
          <p:cNvPr id="8" name="Picture 7" descr="58_real_vs_predicho_sarim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936625"/>
            <a:ext cx="5669280" cy="28018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5778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595959"/>
                </a:solidFill>
              </a:defRPr>
            </a:pPr>
            <a:r>
              <a:t>La línea de predicción de SARIMA sigue de cerca a la línea real, incluyendo los picos estacionales. Las mayores diferencias aparecen en los meses donde la caída de 2023 fue más fuerte.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12700"/>
          </a:xfrm>
          <a:prstGeom prst="rect">
            <a:avLst/>
          </a:prstGeom>
          <a:solidFill>
            <a:srgbClr val="C9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10728655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Generación Eléctrica Mensual de Argentina (2015-2023)  ·  Análisis de Series de Tiempo — 02MIA2026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565392"/>
            <a:ext cx="685800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905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51560"/>
          </a:xfrm>
          <a:prstGeom prst="rect">
            <a:avLst/>
          </a:prstGeom>
          <a:solidFill>
            <a:srgbClr val="E8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86AB"/>
                </a:solidFill>
              </a:defRPr>
            </a:pPr>
            <a:r>
              <a:t>4.3 Validación de Residuos</a:t>
            </a:r>
          </a:p>
          <a:p>
            <a:pPr>
              <a:defRPr sz="2800" b="1">
                <a:solidFill>
                  <a:srgbClr val="1F3864"/>
                </a:solidFill>
              </a:defRPr>
            </a:pPr>
            <a:r>
              <a:t>¿SARIMA está bien armado?</a:t>
            </a:r>
          </a:p>
        </p:txBody>
      </p:sp>
      <p:pic>
        <p:nvPicPr>
          <p:cNvPr id="6" name="Picture 5" descr="logo-fiu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164592"/>
            <a:ext cx="1908967" cy="731520"/>
          </a:xfrm>
          <a:prstGeom prst="rect">
            <a:avLst/>
          </a:prstGeom>
        </p:spPr>
      </p:pic>
      <p:pic>
        <p:nvPicPr>
          <p:cNvPr id="7" name="Picture 6" descr="53_acf_pacf_residuos_sari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498600"/>
            <a:ext cx="6949440" cy="212344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79" y="1371600"/>
          <a:ext cx="4297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Horizonte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¿Hay patrones sin explicar?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p-valor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B2B2B"/>
                          </a:solidFill>
                          <a:latin typeface="Calibri"/>
                        </a:rPr>
                        <a:t>6 meses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B2B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B2B2B"/>
                          </a:solidFill>
                          <a:latin typeface="Calibri"/>
                        </a:rPr>
                        <a:t>0,946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B2B2B"/>
                          </a:solidFill>
                          <a:latin typeface="Calibri"/>
                        </a:rPr>
                        <a:t>12 meses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B2B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B2B2B"/>
                          </a:solidFill>
                          <a:latin typeface="Calibri"/>
                        </a:rPr>
                        <a:t>0,125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B2B2B"/>
                          </a:solidFill>
                          <a:latin typeface="Calibri"/>
                        </a:rPr>
                        <a:t>18 meses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B2B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B2B2B"/>
                          </a:solidFill>
                          <a:latin typeface="Calibri"/>
                        </a:rPr>
                        <a:t>0,302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B2B2B"/>
                          </a:solidFill>
                          <a:latin typeface="Calibri"/>
                        </a:rPr>
                        <a:t>24 meses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B2B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B2B2B"/>
                          </a:solidFill>
                          <a:latin typeface="Calibri"/>
                        </a:rPr>
                        <a:t>0,639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4114800"/>
            <a:ext cx="11338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F3864"/>
                </a:solidFill>
              </a:defRPr>
            </a:pPr>
            <a:r>
              <a:t>Esta prueba (Ljung-Box) chequea si quedó algún patrón sin explicar en lo que el modelo no pudo predecir. En todos los horizontes -incluso a 12 y 24 meses, los "ciclos" anuales- la respuesta es "no": SARIMA capturó bien tanto el corto plazo como el ciclo anual.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12700"/>
          </a:xfrm>
          <a:prstGeom prst="rect">
            <a:avLst/>
          </a:prstGeom>
          <a:solidFill>
            <a:srgbClr val="C9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10728655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Generación Eléctrica Mensual de Argentina (2015-2023)  ·  Análisis de Series de Tiempo — 02MIA2026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565392"/>
            <a:ext cx="685800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905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51560"/>
          </a:xfrm>
          <a:prstGeom prst="rect">
            <a:avLst/>
          </a:prstGeom>
          <a:solidFill>
            <a:srgbClr val="E8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86AB"/>
                </a:solidFill>
              </a:defRPr>
            </a:pPr>
            <a:r>
              <a:t>4.4 Extensión 1: Selección Automática</a:t>
            </a:r>
          </a:p>
          <a:p>
            <a:pPr>
              <a:defRPr sz="2800" b="1">
                <a:solidFill>
                  <a:srgbClr val="1F3864"/>
                </a:solidFill>
              </a:defRPr>
            </a:pPr>
            <a:r>
              <a:t>¿Y si lo elegía la computadora?</a:t>
            </a:r>
          </a:p>
        </p:txBody>
      </p:sp>
      <p:pic>
        <p:nvPicPr>
          <p:cNvPr id="6" name="Picture 5" descr="logo-fiu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164592"/>
            <a:ext cx="1908967" cy="73152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53035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Configuración SARIMA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Puntaje (AIC, menor = mejor ajuste)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(1,1,1)(0,1,1,12)  ← elegido por la PC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1244,08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(1,1,1)(1,1,1,12)  ← el nuestro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1245,97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(0,1,1)(0,1,1,12)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1248,39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(0,1,1)(1,1,1,12)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1250,38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(1,0,1)(0,1,1,12)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1261,68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371600"/>
          <a:ext cx="539496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Configuración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Error (MAPE) prediciendo 2023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B2B2B"/>
                          </a:solidFill>
                          <a:latin typeface="Calibri"/>
                        </a:rPr>
                        <a:t>Elegida por la PC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B2B2B"/>
                          </a:solidFill>
                          <a:latin typeface="Calibri"/>
                        </a:rPr>
                        <a:t>9,47 %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B2B2B"/>
                          </a:solidFill>
                          <a:latin typeface="Calibri"/>
                        </a:rPr>
                        <a:t>La nuestra (manual)</a:t>
                      </a:r>
                    </a:p>
                  </a:txBody>
                  <a:tcPr marT="36576" marB="36576" anchor="ctr">
                    <a:solidFill>
                      <a:srgbClr val="D6EA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B2B2B"/>
                          </a:solidFill>
                          <a:latin typeface="Calibri"/>
                        </a:rPr>
                        <a:t>8,15 %</a:t>
                      </a:r>
                    </a:p>
                  </a:txBody>
                  <a:tcPr marT="36576" marB="36576" anchor="ctr">
                    <a:solidFill>
                      <a:srgbClr val="D6E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66344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864"/>
                </a:solidFill>
              </a:defRPr>
            </a:pPr>
            <a:r>
              <a:t>Probamos también una búsqueda automática que recorre muchas combinaciones y elige la de mejor "puntaje" interno (AIC).</a:t>
            </a:r>
          </a:p>
          <a:p>
            <a:pPr>
              <a:spcBef>
                <a:spcPts val="800"/>
              </a:spcBef>
              <a:defRPr sz="1700">
                <a:solidFill>
                  <a:srgbClr val="595959"/>
                </a:solidFill>
              </a:defRPr>
            </a:pPr>
            <a:r>
              <a:t>La diferencia de puntaje es mínima, pero a la hora de predecir 2023 de verdad, nuestra configuración elegida "a mano" predijo mejor (8,15% vs. 9,47%). Moraleja: un buen puntaje interno no garantiza el mejor pronóstico real, por eso siempre hay que validar contra datos reales.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12700"/>
          </a:xfrm>
          <a:prstGeom prst="rect">
            <a:avLst/>
          </a:prstGeom>
          <a:solidFill>
            <a:srgbClr val="C9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10728655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Generación Eléctrica Mensual de Argentina (2015-2023)  ·  Análisis de Series de Tiempo — 02MIA2026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565392"/>
            <a:ext cx="685800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905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51560"/>
          </a:xfrm>
          <a:prstGeom prst="rect">
            <a:avLst/>
          </a:prstGeom>
          <a:solidFill>
            <a:srgbClr val="E8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86AB"/>
                </a:solidFill>
              </a:defRPr>
            </a:pPr>
            <a:r>
              <a:t>4.5 Extensión 2: Volatilidad (GARCH)</a:t>
            </a:r>
          </a:p>
          <a:p>
            <a:pPr>
              <a:defRPr sz="2800" b="1">
                <a:solidFill>
                  <a:srgbClr val="1F3864"/>
                </a:solidFill>
              </a:defRPr>
            </a:pPr>
            <a:r>
              <a:t>Bonus: ¿qué tan "nerviosa" es la serie?</a:t>
            </a:r>
          </a:p>
        </p:txBody>
      </p:sp>
      <p:pic>
        <p:nvPicPr>
          <p:cNvPr id="6" name="Picture 5" descr="logo-fiu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164592"/>
            <a:ext cx="1908967" cy="731520"/>
          </a:xfrm>
          <a:prstGeom prst="rect">
            <a:avLst/>
          </a:prstGeom>
        </p:spPr>
      </p:pic>
      <p:pic>
        <p:nvPicPr>
          <p:cNvPr id="7" name="Picture 6" descr="63_garch_volatilid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234969"/>
            <a:ext cx="6583680" cy="4205182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223760" y="1371600"/>
          <a:ext cx="4572000" cy="2212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Parámetro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¿Qué mide?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¿Es relevante?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ω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Nivel "normal" de volatilidad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α (shocks)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Reacción a una sorpresa puntual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No tanto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β (memoria)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Cuánto dura un período movido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B2B2B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23760" y="352044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595959"/>
                </a:solidFill>
              </a:defRPr>
            </a:pPr>
            <a:r>
              <a:t>Todos los modelos anteriores predicen el valor promedio. GARCH va un paso más allá: predice qué tan "ancho" debería ser el margen de error mes a mes.</a:t>
            </a:r>
          </a:p>
          <a:p>
            <a:pPr>
              <a:spcBef>
                <a:spcPts val="1000"/>
              </a:spcBef>
              <a:defRPr sz="1700">
                <a:solidFill>
                  <a:srgbClr val="595959"/>
                </a:solidFill>
              </a:defRPr>
            </a:pPr>
            <a:r>
              <a:t>Encontramos que los períodos movidos tienden a continuar un tiempo (hay "memoria"), pero un shock puntual no dispara por sí solo un período de alta volatilidad.</a:t>
            </a:r>
          </a:p>
          <a:p>
            <a:pPr>
              <a:spcBef>
                <a:spcPts val="1000"/>
              </a:spcBef>
              <a:defRPr sz="1700" b="1">
                <a:solidFill>
                  <a:srgbClr val="1F3864"/>
                </a:solidFill>
              </a:defRPr>
            </a:pPr>
            <a:r>
              <a:t>En la práctica: permite dar intervalos de confianza más realistas, más anchos cuando "está movido" y más angostos cuando está tranquilo.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12700"/>
          </a:xfrm>
          <a:prstGeom prst="rect">
            <a:avLst/>
          </a:prstGeom>
          <a:solidFill>
            <a:srgbClr val="C9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10728655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Generación Eléctrica Mensual de Argentina (2015-2023)  ·  Análisis de Series de Tiempo — 02MIA2026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565392"/>
            <a:ext cx="685800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905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51560"/>
          </a:xfrm>
          <a:prstGeom prst="rect">
            <a:avLst/>
          </a:prstGeom>
          <a:solidFill>
            <a:srgbClr val="E8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86AB"/>
                </a:solidFill>
              </a:defRPr>
            </a:pPr>
            <a:r>
              <a:t>4.6 Pronóstico Operativo</a:t>
            </a:r>
          </a:p>
          <a:p>
            <a:pPr>
              <a:defRPr sz="2800" b="1">
                <a:solidFill>
                  <a:srgbClr val="1F3864"/>
                </a:solidFill>
              </a:defRPr>
            </a:pPr>
            <a:r>
              <a:t>¿Y qué esperamos para 2024?</a:t>
            </a:r>
          </a:p>
        </p:txBody>
      </p:sp>
      <p:pic>
        <p:nvPicPr>
          <p:cNvPr id="6" name="Picture 5" descr="logo-fiu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164592"/>
            <a:ext cx="1908967" cy="731520"/>
          </a:xfrm>
          <a:prstGeom prst="rect">
            <a:avLst/>
          </a:prstGeom>
        </p:spPr>
      </p:pic>
      <p:pic>
        <p:nvPicPr>
          <p:cNvPr id="7" name="Picture 6" descr="65_pronostico_20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734924"/>
            <a:ext cx="6949440" cy="3205271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79" y="1188720"/>
          <a:ext cx="42976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Pronóstico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Mínimo esperado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Máximo esperado</a:t>
                      </a:r>
                    </a:p>
                  </a:txBody>
                  <a:tcPr marT="36576" marB="36576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Enero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35.332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31.161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39.503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Febrero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29.570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24.767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34.373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Marzo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33.997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28.937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39.057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Junio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32.933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27.512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38.353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Julio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32.693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27.182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38.203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Diciembre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30.696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24.772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36.619</a:t>
                      </a:r>
                    </a:p>
                  </a:txBody>
                  <a:tcPr marT="36576" marB="36576" anchor="ctr">
                    <a:solidFill>
                      <a:srgbClr val="E3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98079" y="571500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95959"/>
                </a:solidFill>
              </a:defRPr>
            </a:pPr>
            <a:r>
              <a:t>Valores en GWh. Tabla resumida (6 de 12 meses) — el detalle completo está en el informe.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12700"/>
          </a:xfrm>
          <a:prstGeom prst="rect">
            <a:avLst/>
          </a:prstGeom>
          <a:solidFill>
            <a:srgbClr val="C9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10728655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Generación Eléctrica Mensual de Argentina (2015-2023)  ·  Análisis de Series de Tiempo — 02MIA2026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565392"/>
            <a:ext cx="685800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905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51560"/>
          </a:xfrm>
          <a:prstGeom prst="rect">
            <a:avLst/>
          </a:prstGeom>
          <a:solidFill>
            <a:srgbClr val="E8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86AB"/>
                </a:solidFill>
              </a:defRPr>
            </a:pPr>
            <a:r>
              <a:t>5. Conclusiones</a:t>
            </a:r>
          </a:p>
          <a:p>
            <a:pPr>
              <a:defRPr sz="2800" b="1">
                <a:solidFill>
                  <a:srgbClr val="1F3864"/>
                </a:solidFill>
              </a:defRPr>
            </a:pPr>
            <a:r>
              <a:t>Lo que aprendimos (parte 1)</a:t>
            </a:r>
          </a:p>
        </p:txBody>
      </p:sp>
      <p:pic>
        <p:nvPicPr>
          <p:cNvPr id="6" name="Picture 5" descr="logo-fiu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164592"/>
            <a:ext cx="1908967" cy="731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3716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•  Respondiendo la pregunta inicial: SARIMA fue el mejor (8,15% de error), y la estacionalidad anual resultó ser el factor más importante para predecir bien.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•  El orden final fue: SARIMA, después Holt-Winters (~9%), después Prophet (11,6%) y por último ARIMA (13%) — confirmando que cuanto mejor se modela la estacionalidad, mejor se predice.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•  Entre las dos versiones de Holt-Winters, la multiplicativa fue apenas mejor (9,02% vs. 9,32%) — una diferencia pequeña, esperable según lo que ya habíamos visto en la descomposición.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•  La fuerte caída de 2022-2023 fue el principal "dolor de cabeza" para todos los modelos: ninguno podía anticipar ese quiebre sin información externa (ej. actividad económica).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12700"/>
          </a:xfrm>
          <a:prstGeom prst="rect">
            <a:avLst/>
          </a:prstGeom>
          <a:solidFill>
            <a:srgbClr val="C9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10728655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Generación Eléctrica Mensual de Argentina (2015-2023)  ·  Análisis de Series de Tiempo — 02MIA2026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565392"/>
            <a:ext cx="685800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905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51560"/>
          </a:xfrm>
          <a:prstGeom prst="rect">
            <a:avLst/>
          </a:prstGeom>
          <a:solidFill>
            <a:srgbClr val="E8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86AB"/>
                </a:solidFill>
              </a:defRPr>
            </a:pPr>
            <a:r>
              <a:t>5. Conclusiones y Aprendizajes</a:t>
            </a:r>
          </a:p>
          <a:p>
            <a:pPr>
              <a:defRPr sz="2800" b="1">
                <a:solidFill>
                  <a:srgbClr val="1F3864"/>
                </a:solidFill>
              </a:defRPr>
            </a:pPr>
            <a:r>
              <a:t>Lo que aprendimos (parte 2)</a:t>
            </a:r>
          </a:p>
        </p:txBody>
      </p:sp>
      <p:pic>
        <p:nvPicPr>
          <p:cNvPr id="6" name="Picture 5" descr="logo-fiu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164592"/>
            <a:ext cx="1908967" cy="731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3716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•  El "piloto automático" (selección por AIC) no siempre gana: nuestra configuración elegida a mano predijo mejor en datos reales (8,15% vs. 9,47%).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•  GARCH mostró que la volatilidad "tiene memoria": los períodos movidos tienden a continuar, lo que permite dar márgenes de error más realistas.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•  Validamos que SARIMA no solo ganó en precisión, sino que está bien especificado: no deja patrones sin explicar en sus errores.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•  Aprendizaje general: ningún indicador por sí solo (ni el puntaje interno, ni el error de predicción, ni las pruebas de residuos) alcanza — hay que mirar los tres juntos para elegir con confianza.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12700"/>
          </a:xfrm>
          <a:prstGeom prst="rect">
            <a:avLst/>
          </a:prstGeom>
          <a:solidFill>
            <a:srgbClr val="C9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10728655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Generación Eléctrica Mensual de Argentina (2015-2023)  ·  Análisis de Series de Tiempo — 02MIA2026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565392"/>
            <a:ext cx="685800" cy="274320"/>
          </a:xfrm>
          <a:prstGeom prst="rect">
            <a:avLst/>
          </a:prstGeom>
          <a:noFill/>
        </p:spPr>
        <p:txBody>
          <a:bodyPr wrap="none" tIns="27432" bIns="0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463040" y="-1463040"/>
            <a:ext cx="3657600" cy="36576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14255" y="4480560"/>
            <a:ext cx="3657600" cy="36576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246120"/>
            <a:ext cx="12191695" cy="25400"/>
          </a:xfrm>
          <a:prstGeom prst="rect">
            <a:avLst/>
          </a:prstGeom>
          <a:solidFill>
            <a:srgbClr val="E8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44287" y="502920"/>
            <a:ext cx="2103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-fiu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1019" y="594360"/>
            <a:ext cx="1789656" cy="685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24231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F3864"/>
                </a:solidFill>
              </a:defRPr>
            </a:pPr>
            <a:r>
              <a:t>Muchas gracias</a:t>
            </a:r>
          </a:p>
          <a:p>
            <a:pPr algn="ctr">
              <a:spcBef>
                <a:spcPts val="800"/>
              </a:spcBef>
              <a:defRPr sz="2400">
                <a:solidFill>
                  <a:srgbClr val="2E86AB"/>
                </a:solidFill>
              </a:defRPr>
            </a:pPr>
            <a:r>
              <a:t>Preguntas y discusión</a:t>
            </a:r>
          </a:p>
          <a:p>
            <a:pPr algn="ctr">
              <a:spcBef>
                <a:spcPts val="2000"/>
              </a:spcBef>
              <a:defRPr sz="1800">
                <a:solidFill>
                  <a:srgbClr val="595959"/>
                </a:solidFill>
              </a:defRPr>
            </a:pPr>
            <a:r>
              <a:t>Gustavo Rivas · Carlos Rivas · Fermín Rodríguez</a:t>
            </a:r>
          </a:p>
          <a:p>
            <a:pPr algn="ctr">
              <a:spcBef>
                <a:spcPts val="600"/>
              </a:spcBef>
              <a:defRPr sz="1300">
                <a:solidFill>
                  <a:srgbClr val="595959"/>
                </a:solidFill>
              </a:defRPr>
            </a:pPr>
            <a:r>
              <a:t>Análisis de Series de Tiempo (02MIA2026) — Especialización en IA, UBA FIUBA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6133</Words>
  <Application>Microsoft Office PowerPoint</Application>
  <PresentationFormat>Panorámica</PresentationFormat>
  <Paragraphs>584</Paragraphs>
  <Slides>26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Gustavo Rivas</cp:lastModifiedBy>
  <cp:revision>2</cp:revision>
  <dcterms:created xsi:type="dcterms:W3CDTF">2013-01-27T09:14:16Z</dcterms:created>
  <dcterms:modified xsi:type="dcterms:W3CDTF">2026-06-12T02:21:23Z</dcterms:modified>
  <cp:category/>
</cp:coreProperties>
</file>